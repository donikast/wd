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7" r:id="rId1"/>
  </p:sldMasterIdLst>
  <p:sldIdLst>
    <p:sldId id="256" r:id="rId2"/>
    <p:sldId id="257" r:id="rId3"/>
    <p:sldId id="262" r:id="rId4"/>
    <p:sldId id="258" r:id="rId5"/>
    <p:sldId id="259" r:id="rId6"/>
    <p:sldId id="275" r:id="rId7"/>
    <p:sldId id="260" r:id="rId8"/>
    <p:sldId id="263" r:id="rId9"/>
    <p:sldId id="264" r:id="rId10"/>
    <p:sldId id="265" r:id="rId11"/>
    <p:sldId id="266" r:id="rId12"/>
    <p:sldId id="269" r:id="rId13"/>
    <p:sldId id="270" r:id="rId14"/>
    <p:sldId id="271" r:id="rId15"/>
    <p:sldId id="272" r:id="rId16"/>
    <p:sldId id="274" r:id="rId17"/>
    <p:sldId id="273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A8B2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95" d="100"/>
          <a:sy n="95" d="100"/>
        </p:scale>
        <p:origin x="16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9/12/2026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91204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9/12/2026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56572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9/12/2026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48267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9/12/2026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64329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9/12/2026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00795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9/12/2026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72179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9/12/2026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41797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smtClean="0"/>
              <a:pPr/>
              <a:t>9/12/2026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54435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9/12/2026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86679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9/12/2026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95238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9/12/2026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17016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9/12/2026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45141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10" r:id="rId3"/>
    <p:sldLayoutId id="2147483711" r:id="rId4"/>
    <p:sldLayoutId id="2147483712" r:id="rId5"/>
    <p:sldLayoutId id="2147483713" r:id="rId6"/>
    <p:sldLayoutId id="2147483714" r:id="rId7"/>
    <p:sldLayoutId id="2147483715" r:id="rId8"/>
    <p:sldLayoutId id="2147483716" r:id="rId9"/>
    <p:sldLayoutId id="2147483717" r:id="rId10"/>
    <p:sldLayoutId id="2147483718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1.tu-varna.bg/tu-varna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CE5D2575-1D13-442E-9A0C-619CCB0E158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bg-BG" dirty="0"/>
              <a:t>Въведение в </a:t>
            </a:r>
            <a:r>
              <a:rPr lang="en-US" dirty="0"/>
              <a:t>HTML. </a:t>
            </a:r>
            <a:r>
              <a:rPr lang="bg-BG" dirty="0"/>
              <a:t>Основни тагове</a:t>
            </a:r>
          </a:p>
        </p:txBody>
      </p:sp>
      <p:sp>
        <p:nvSpPr>
          <p:cNvPr id="3" name="Подзаглавие 2">
            <a:extLst>
              <a:ext uri="{FF2B5EF4-FFF2-40B4-BE49-F238E27FC236}">
                <a16:creationId xmlns:a16="http://schemas.microsoft.com/office/drawing/2014/main" id="{09606A93-E13A-4F5E-B1AF-A04FB147D9E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bg-BG" dirty="0"/>
              <a:t>Упражнение 1</a:t>
            </a:r>
          </a:p>
        </p:txBody>
      </p:sp>
    </p:spTree>
    <p:extLst>
      <p:ext uri="{BB962C8B-B14F-4D97-AF65-F5344CB8AC3E}">
        <p14:creationId xmlns:p14="http://schemas.microsoft.com/office/powerpoint/2010/main" val="34185811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AA1DC3E5-9FA7-4DB3-97C1-04A90507CF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HTML</a:t>
            </a:r>
            <a:endParaRPr lang="bg-BG" sz="3600" dirty="0"/>
          </a:p>
        </p:txBody>
      </p:sp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id="{7AF4D9B7-EFD3-422E-B0DD-F0E967B476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bg-BG" dirty="0"/>
              <a:t> </a:t>
            </a:r>
            <a:r>
              <a:rPr lang="en-US" dirty="0"/>
              <a:t>Hyper Text Markup Language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bg-BG" dirty="0"/>
              <a:t> Стандартен маркиращ език за създаване на </a:t>
            </a:r>
            <a:r>
              <a:rPr lang="en-US" dirty="0"/>
              <a:t>HTML </a:t>
            </a:r>
            <a:r>
              <a:rPr lang="bg-BG" dirty="0"/>
              <a:t>страници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bg-BG" dirty="0"/>
              <a:t> Описва структурата на уеб страницата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bg-BG" dirty="0"/>
              <a:t> Състои се от множество елементи, които „казват“ на браузъра как да се изобрази съдържанието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bg-BG" dirty="0"/>
              <a:t> Пример: </a:t>
            </a:r>
            <a:r>
              <a:rPr lang="bg-BG" dirty="0">
                <a:hlinkClick r:id="rId2"/>
              </a:rPr>
              <a:t>сайт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22178000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9FCE86EE-B697-40E4-8758-EF5684F4E2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Създаване на </a:t>
            </a:r>
            <a:r>
              <a:rPr lang="en-US" dirty="0"/>
              <a:t>HTML </a:t>
            </a:r>
            <a:r>
              <a:rPr lang="bg-BG" dirty="0"/>
              <a:t>страници</a:t>
            </a:r>
          </a:p>
        </p:txBody>
      </p:sp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id="{D5B03EA1-1669-44D0-99D6-D582119DA2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bg-BG" sz="2400" dirty="0">
                <a:solidFill>
                  <a:srgbClr val="000000"/>
                </a:solidFill>
                <a:latin typeface="SPFBFR+Palatino-Roman"/>
              </a:rPr>
              <a:t> Текстов редактор (напр. </a:t>
            </a:r>
            <a:r>
              <a:rPr lang="en-US" sz="2400" dirty="0">
                <a:solidFill>
                  <a:srgbClr val="000000"/>
                </a:solidFill>
                <a:latin typeface="SPFBFR+Palatino-Roman"/>
              </a:rPr>
              <a:t>Notepad)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bg-BG" sz="2400" dirty="0">
                <a:solidFill>
                  <a:srgbClr val="000000"/>
                </a:solidFill>
                <a:latin typeface="SPFBFR+Palatino-Roman"/>
              </a:rPr>
              <a:t> Други редактори (</a:t>
            </a:r>
            <a:r>
              <a:rPr lang="en-US" sz="2400" dirty="0">
                <a:solidFill>
                  <a:srgbClr val="000000"/>
                </a:solidFill>
                <a:latin typeface="SPFBFR+Palatino-Roman"/>
              </a:rPr>
              <a:t>Notepad++, </a:t>
            </a:r>
            <a:r>
              <a:rPr lang="en-US" sz="2400" dirty="0" err="1">
                <a:solidFill>
                  <a:srgbClr val="000000"/>
                </a:solidFill>
                <a:latin typeface="SPFBFR+Palatino-Roman"/>
              </a:rPr>
              <a:t>SublimeText</a:t>
            </a:r>
            <a:r>
              <a:rPr lang="en-US" sz="2400" dirty="0">
                <a:solidFill>
                  <a:srgbClr val="000000"/>
                </a:solidFill>
                <a:latin typeface="SPFBFR+Palatino-Roman"/>
              </a:rPr>
              <a:t>, </a:t>
            </a:r>
            <a:r>
              <a:rPr lang="en-US" sz="2400" dirty="0" err="1">
                <a:solidFill>
                  <a:srgbClr val="000000"/>
                </a:solidFill>
                <a:latin typeface="SPFBFR+Palatino-Roman"/>
              </a:rPr>
              <a:t>CuteHTML</a:t>
            </a:r>
            <a:r>
              <a:rPr lang="bg-BG" sz="2400" dirty="0">
                <a:solidFill>
                  <a:srgbClr val="000000"/>
                </a:solidFill>
                <a:latin typeface="SPFBFR+Palatino-Roman"/>
              </a:rPr>
              <a:t>…</a:t>
            </a:r>
            <a:r>
              <a:rPr lang="en-US" sz="2400" dirty="0">
                <a:solidFill>
                  <a:srgbClr val="000000"/>
                </a:solidFill>
                <a:latin typeface="SPFBFR+Palatino-Roman"/>
              </a:rPr>
              <a:t>)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bg-BG" sz="2400" b="0" i="0" u="none" strike="noStrike" baseline="0" dirty="0">
                <a:solidFill>
                  <a:srgbClr val="000000"/>
                </a:solidFill>
                <a:latin typeface="SPFBFR+Palatino-Roman"/>
              </a:rPr>
              <a:t> 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SPFBFR+Palatino-Roman"/>
              </a:rPr>
              <a:t>WYSIWYG 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GXCEQR+Times-Roman"/>
              </a:rPr>
              <a:t>редактори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GXCEQR+Times-Roman"/>
              </a:rPr>
              <a:t> </a:t>
            </a:r>
            <a:r>
              <a:rPr lang="en-US" sz="2400" dirty="0">
                <a:solidFill>
                  <a:srgbClr val="000000"/>
                </a:solidFill>
                <a:latin typeface="SPFBFR+Palatino-Roman"/>
              </a:rPr>
              <a:t>(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SPFBFR+Palatino-Roman"/>
              </a:rPr>
              <a:t>Adobe Dreamweaver, Microsoft Visual Studio</a:t>
            </a:r>
            <a:r>
              <a:rPr lang="bg-BG" sz="2400" b="0" i="0" u="none" strike="noStrike" baseline="0" dirty="0">
                <a:solidFill>
                  <a:srgbClr val="000000"/>
                </a:solidFill>
                <a:latin typeface="SPFBFR+Palatino-Roman"/>
              </a:rPr>
              <a:t>…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SPFBFR+Palatino-Roman"/>
              </a:rPr>
              <a:t>) 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bg-BG" sz="2400" dirty="0">
                <a:solidFill>
                  <a:srgbClr val="C00000"/>
                </a:solidFill>
                <a:latin typeface="SPFBFR+Palatino-Roman"/>
              </a:rPr>
              <a:t> Свободни сте да работите с редактор по избор. В залата – </a:t>
            </a:r>
            <a:r>
              <a:rPr lang="en-US" sz="2400" dirty="0">
                <a:solidFill>
                  <a:srgbClr val="C00000"/>
                </a:solidFill>
                <a:latin typeface="SPFBFR+Palatino-Roman"/>
              </a:rPr>
              <a:t>VS Code.</a:t>
            </a:r>
            <a:endParaRPr lang="bg-BG" sz="2400" dirty="0">
              <a:solidFill>
                <a:srgbClr val="C00000"/>
              </a:solidFill>
              <a:latin typeface="SPFBFR+Palatino-Roman"/>
            </a:endParaRPr>
          </a:p>
        </p:txBody>
      </p:sp>
    </p:spTree>
    <p:extLst>
      <p:ext uri="{BB962C8B-B14F-4D97-AF65-F5344CB8AC3E}">
        <p14:creationId xmlns:p14="http://schemas.microsoft.com/office/powerpoint/2010/main" val="33174611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F0ECA7D2-4110-4B33-802A-71CBFB736F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HTML </a:t>
            </a:r>
            <a:r>
              <a:rPr lang="bg-BG" sz="3600" dirty="0"/>
              <a:t>елементи</a:t>
            </a:r>
          </a:p>
        </p:txBody>
      </p:sp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id="{B7173364-9D26-4389-8A2D-902C3B052B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bg-BG" dirty="0"/>
              <a:t> Всяка страница се състои от </a:t>
            </a:r>
            <a:r>
              <a:rPr lang="en-US" dirty="0"/>
              <a:t>HTML </a:t>
            </a:r>
            <a:r>
              <a:rPr lang="bg-BG" dirty="0"/>
              <a:t>елементи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bg-BG" dirty="0"/>
              <a:t> Структура:</a:t>
            </a:r>
          </a:p>
          <a:p>
            <a:pPr marL="0" indent="0" algn="ctr">
              <a:buNone/>
            </a:pPr>
            <a:r>
              <a:rPr lang="en-US" sz="2800" b="1" dirty="0">
                <a:solidFill>
                  <a:srgbClr val="C00000"/>
                </a:solidFill>
              </a:rPr>
              <a:t>&lt;</a:t>
            </a:r>
            <a:r>
              <a:rPr lang="bg-BG" sz="2800" b="1" dirty="0">
                <a:solidFill>
                  <a:srgbClr val="C00000"/>
                </a:solidFill>
              </a:rPr>
              <a:t>таг</a:t>
            </a:r>
            <a:r>
              <a:rPr lang="en-US" sz="2800" b="1" dirty="0">
                <a:solidFill>
                  <a:srgbClr val="C00000"/>
                </a:solidFill>
              </a:rPr>
              <a:t>&gt; </a:t>
            </a:r>
            <a:r>
              <a:rPr lang="bg-BG" sz="2800" b="1" dirty="0">
                <a:solidFill>
                  <a:srgbClr val="C00000"/>
                </a:solidFill>
              </a:rPr>
              <a:t>Съдържание на тага </a:t>
            </a:r>
            <a:r>
              <a:rPr lang="en-US" sz="2800" b="1" dirty="0">
                <a:solidFill>
                  <a:srgbClr val="C00000"/>
                </a:solidFill>
              </a:rPr>
              <a:t>&lt;</a:t>
            </a:r>
            <a:r>
              <a:rPr lang="bg-BG" sz="2800" b="1" dirty="0">
                <a:solidFill>
                  <a:srgbClr val="C00000"/>
                </a:solidFill>
              </a:rPr>
              <a:t>/таг</a:t>
            </a:r>
            <a:r>
              <a:rPr lang="en-US" sz="2800" b="1" dirty="0">
                <a:solidFill>
                  <a:srgbClr val="C00000"/>
                </a:solidFill>
              </a:rPr>
              <a:t>&gt; </a:t>
            </a:r>
            <a:endParaRPr lang="bg-BG" sz="28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en-US" sz="1800" dirty="0"/>
              <a:t>&lt;</a:t>
            </a:r>
            <a:r>
              <a:rPr lang="bg-BG" sz="1800" dirty="0"/>
              <a:t>таг</a:t>
            </a:r>
            <a:r>
              <a:rPr lang="en-US" sz="1800" dirty="0"/>
              <a:t>&gt;</a:t>
            </a:r>
            <a:r>
              <a:rPr lang="bg-BG" sz="1800" dirty="0"/>
              <a:t> - отварящ таг</a:t>
            </a:r>
          </a:p>
          <a:p>
            <a:pPr marL="0" indent="0">
              <a:buNone/>
            </a:pPr>
            <a:r>
              <a:rPr lang="en-US" sz="1800" dirty="0"/>
              <a:t>&lt;</a:t>
            </a:r>
            <a:r>
              <a:rPr lang="bg-BG" sz="1800" dirty="0"/>
              <a:t>/таг</a:t>
            </a:r>
            <a:r>
              <a:rPr lang="en-US" sz="1800" dirty="0"/>
              <a:t>&gt;</a:t>
            </a:r>
            <a:r>
              <a:rPr lang="bg-BG" sz="1800" dirty="0"/>
              <a:t> - затварящ таг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bg-BG" dirty="0"/>
              <a:t> Пример:  </a:t>
            </a:r>
            <a:r>
              <a:rPr lang="en-US" dirty="0"/>
              <a:t>&lt;p&gt;</a:t>
            </a:r>
            <a:r>
              <a:rPr lang="ru-RU" dirty="0" err="1"/>
              <a:t>Сладкарница</a:t>
            </a:r>
            <a:r>
              <a:rPr lang="ru-RU" dirty="0"/>
              <a:t> "Аида" е </a:t>
            </a:r>
            <a:r>
              <a:rPr lang="ru-RU" dirty="0" err="1"/>
              <a:t>създадена</a:t>
            </a:r>
            <a:r>
              <a:rPr lang="ru-RU" dirty="0"/>
              <a:t> </a:t>
            </a:r>
            <a:r>
              <a:rPr lang="ru-RU" dirty="0" err="1"/>
              <a:t>през</a:t>
            </a:r>
            <a:r>
              <a:rPr lang="ru-RU" dirty="0"/>
              <a:t> 1992 г. </a:t>
            </a:r>
            <a:r>
              <a:rPr lang="en-US" dirty="0"/>
              <a:t>&lt;/p&gt;</a:t>
            </a:r>
            <a:endParaRPr lang="bg-BG" dirty="0"/>
          </a:p>
          <a:p>
            <a:pPr>
              <a:buFont typeface="Wingdings" panose="05000000000000000000" pitchFamily="2" charset="2"/>
              <a:buChar char="q"/>
            </a:pPr>
            <a:r>
              <a:rPr lang="bg-BG" dirty="0"/>
              <a:t> Празен елемент – без съдържание </a:t>
            </a:r>
            <a:r>
              <a:rPr lang="en-US" dirty="0"/>
              <a:t>&lt;</a:t>
            </a:r>
            <a:r>
              <a:rPr lang="en-US" dirty="0" err="1"/>
              <a:t>hr</a:t>
            </a:r>
            <a:r>
              <a:rPr lang="en-US" dirty="0"/>
              <a:t> /&gt;, &lt;</a:t>
            </a:r>
            <a:r>
              <a:rPr lang="en-US" dirty="0" err="1"/>
              <a:t>br</a:t>
            </a:r>
            <a:r>
              <a:rPr lang="en-US" dirty="0"/>
              <a:t> /&gt; </a:t>
            </a:r>
            <a:endParaRPr lang="bg-BG" dirty="0"/>
          </a:p>
          <a:p>
            <a:pPr marL="0" indent="0">
              <a:buNone/>
            </a:pP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27617075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DE165705-984F-4B5C-B241-F8B91A0DA9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sz="3600" dirty="0"/>
              <a:t>Атрибути</a:t>
            </a:r>
          </a:p>
        </p:txBody>
      </p:sp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id="{F002E80D-50D9-41D6-AE7C-3EB0D7C652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bg-BG" sz="3200" dirty="0"/>
              <a:t> свойство</a:t>
            </a:r>
            <a:r>
              <a:rPr lang="en-US" sz="3200" dirty="0"/>
              <a:t>="</a:t>
            </a:r>
            <a:r>
              <a:rPr lang="bg-BG" sz="3200" dirty="0"/>
              <a:t>стойност</a:t>
            </a:r>
            <a:r>
              <a:rPr lang="en-US" sz="3200" dirty="0"/>
              <a:t>"</a:t>
            </a:r>
            <a:endParaRPr lang="bg-BG" sz="3200" dirty="0"/>
          </a:p>
          <a:p>
            <a:pPr marL="0" indent="0">
              <a:buNone/>
            </a:pPr>
            <a:endParaRPr lang="en-US" sz="700" dirty="0"/>
          </a:p>
          <a:p>
            <a:pPr lvl="1"/>
            <a:r>
              <a:rPr lang="en-US" sz="2200" dirty="0"/>
              <a:t>&lt;p </a:t>
            </a:r>
            <a:r>
              <a:rPr lang="en-US" sz="2200" dirty="0">
                <a:solidFill>
                  <a:srgbClr val="FF0000"/>
                </a:solidFill>
              </a:rPr>
              <a:t>align="justify"</a:t>
            </a:r>
            <a:r>
              <a:rPr lang="en-US" sz="2200" dirty="0"/>
              <a:t>&gt;</a:t>
            </a:r>
            <a:r>
              <a:rPr lang="ru-RU" sz="2200" dirty="0"/>
              <a:t> </a:t>
            </a:r>
            <a:r>
              <a:rPr lang="ru-RU" sz="2200" dirty="0" err="1"/>
              <a:t>Сладкарница</a:t>
            </a:r>
            <a:r>
              <a:rPr lang="ru-RU" sz="2200" dirty="0"/>
              <a:t> "Аида" е </a:t>
            </a:r>
            <a:r>
              <a:rPr lang="ru-RU" sz="2200" dirty="0" err="1"/>
              <a:t>създадена</a:t>
            </a:r>
            <a:r>
              <a:rPr lang="ru-RU" sz="2200" dirty="0"/>
              <a:t> </a:t>
            </a:r>
            <a:r>
              <a:rPr lang="ru-RU" sz="2200" dirty="0" err="1"/>
              <a:t>през</a:t>
            </a:r>
            <a:r>
              <a:rPr lang="ru-RU" sz="2200" dirty="0"/>
              <a:t> 1992 г. </a:t>
            </a:r>
            <a:r>
              <a:rPr lang="en-US" sz="2200" dirty="0"/>
              <a:t>&lt;/p&gt;</a:t>
            </a:r>
          </a:p>
          <a:p>
            <a:pPr lvl="1"/>
            <a:r>
              <a:rPr lang="en-US" sz="2200" dirty="0"/>
              <a:t>&lt;</a:t>
            </a:r>
            <a:r>
              <a:rPr lang="en-US" sz="2200" dirty="0" err="1"/>
              <a:t>img</a:t>
            </a:r>
            <a:r>
              <a:rPr lang="en-US" sz="2200" dirty="0"/>
              <a:t> </a:t>
            </a:r>
            <a:r>
              <a:rPr lang="en-US" sz="2200" dirty="0" err="1">
                <a:solidFill>
                  <a:srgbClr val="5A8B25"/>
                </a:solidFill>
              </a:rPr>
              <a:t>src</a:t>
            </a:r>
            <a:r>
              <a:rPr lang="en-US" sz="2200" dirty="0">
                <a:solidFill>
                  <a:srgbClr val="5A8B25"/>
                </a:solidFill>
              </a:rPr>
              <a:t>= "cat.jpg"</a:t>
            </a:r>
            <a:r>
              <a:rPr lang="en-US" sz="2200" dirty="0">
                <a:solidFill>
                  <a:srgbClr val="92D050"/>
                </a:solidFill>
              </a:rPr>
              <a:t> </a:t>
            </a:r>
            <a:r>
              <a:rPr lang="en-US" sz="2200" dirty="0"/>
              <a:t>alt=“</a:t>
            </a:r>
            <a:r>
              <a:rPr lang="bg-BG" sz="2200" dirty="0"/>
              <a:t>Снимка с котка</a:t>
            </a:r>
            <a:r>
              <a:rPr lang="en-US" sz="2200" dirty="0"/>
              <a:t>” /&gt;</a:t>
            </a:r>
          </a:p>
          <a:p>
            <a:pPr lvl="1"/>
            <a:r>
              <a:rPr lang="en-US" sz="2200" dirty="0"/>
              <a:t>&lt;h</a:t>
            </a:r>
            <a:r>
              <a:rPr lang="bg-BG" sz="2200" dirty="0"/>
              <a:t>2</a:t>
            </a:r>
            <a:r>
              <a:rPr lang="en-US" sz="2200" dirty="0"/>
              <a:t> </a:t>
            </a:r>
            <a:r>
              <a:rPr lang="en-US" sz="2200" dirty="0">
                <a:solidFill>
                  <a:srgbClr val="5A8B25"/>
                </a:solidFill>
              </a:rPr>
              <a:t>class="</a:t>
            </a:r>
            <a:r>
              <a:rPr lang="en-US" sz="2200" dirty="0" err="1">
                <a:solidFill>
                  <a:srgbClr val="5A8B25"/>
                </a:solidFill>
              </a:rPr>
              <a:t>myclass</a:t>
            </a:r>
            <a:r>
              <a:rPr lang="en-US" sz="2200" dirty="0">
                <a:solidFill>
                  <a:srgbClr val="5A8B25"/>
                </a:solidFill>
              </a:rPr>
              <a:t>"</a:t>
            </a:r>
            <a:r>
              <a:rPr lang="en-US" sz="2200" dirty="0"/>
              <a:t>&gt;</a:t>
            </a:r>
            <a:r>
              <a:rPr lang="bg-BG" sz="2200" dirty="0"/>
              <a:t>За нас</a:t>
            </a:r>
            <a:r>
              <a:rPr lang="en-US" sz="2200" dirty="0"/>
              <a:t>&lt;/h2&gt;</a:t>
            </a:r>
          </a:p>
          <a:p>
            <a:pPr lvl="1"/>
            <a:r>
              <a:rPr lang="en-US" sz="2200" dirty="0"/>
              <a:t>&lt;div </a:t>
            </a:r>
            <a:r>
              <a:rPr lang="en-US" sz="2200" dirty="0">
                <a:solidFill>
                  <a:srgbClr val="5A8B25"/>
                </a:solidFill>
              </a:rPr>
              <a:t>id="</a:t>
            </a:r>
            <a:r>
              <a:rPr lang="en-US" sz="2200" dirty="0" err="1">
                <a:solidFill>
                  <a:srgbClr val="5A8B25"/>
                </a:solidFill>
              </a:rPr>
              <a:t>someid</a:t>
            </a:r>
            <a:r>
              <a:rPr lang="en-US" sz="2200" dirty="0">
                <a:solidFill>
                  <a:srgbClr val="5A8B25"/>
                </a:solidFill>
              </a:rPr>
              <a:t>"</a:t>
            </a:r>
            <a:r>
              <a:rPr lang="en-US" sz="2200" dirty="0"/>
              <a:t>&gt;&lt;/div&gt;</a:t>
            </a:r>
          </a:p>
          <a:p>
            <a:pPr lvl="1"/>
            <a:r>
              <a:rPr lang="en-US" sz="2200" dirty="0"/>
              <a:t>&lt;input </a:t>
            </a:r>
            <a:r>
              <a:rPr lang="en-US" sz="2200" dirty="0">
                <a:solidFill>
                  <a:srgbClr val="00B050"/>
                </a:solidFill>
              </a:rPr>
              <a:t>type=“text” </a:t>
            </a:r>
            <a:r>
              <a:rPr lang="en-US" sz="2200" dirty="0"/>
              <a:t>/&gt;</a:t>
            </a:r>
            <a:endParaRPr lang="bg-BG" sz="2200" dirty="0"/>
          </a:p>
        </p:txBody>
      </p:sp>
    </p:spTree>
    <p:extLst>
      <p:ext uri="{BB962C8B-B14F-4D97-AF65-F5344CB8AC3E}">
        <p14:creationId xmlns:p14="http://schemas.microsoft.com/office/powerpoint/2010/main" val="30351124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1D186E-4DD4-1ABB-75CF-160D81FFF8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Структура на </a:t>
            </a:r>
            <a:r>
              <a:rPr lang="en-US" dirty="0"/>
              <a:t>HTML</a:t>
            </a:r>
            <a:r>
              <a:rPr lang="bg-BG" dirty="0"/>
              <a:t> </a:t>
            </a:r>
            <a:br>
              <a:rPr lang="bg-BG" dirty="0"/>
            </a:br>
            <a:r>
              <a:rPr lang="bg-BG" dirty="0"/>
              <a:t>документ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7CFADA-2402-3503-92EE-C0E25D06DB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Картина 4" descr="Картина, която съдържа текст&#10;&#10;Описанието е генерирано автоматично">
            <a:extLst>
              <a:ext uri="{FF2B5EF4-FFF2-40B4-BE49-F238E27FC236}">
                <a16:creationId xmlns:a16="http://schemas.microsoft.com/office/drawing/2014/main" id="{F288761B-EA14-1BB8-5BE9-5731595582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6367" y="383122"/>
            <a:ext cx="3833812" cy="5765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18849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05084986-980D-4A68-AC03-5586AE3CE3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Декларация на типа на документа</a:t>
            </a:r>
            <a:r>
              <a:rPr lang="en-US" dirty="0"/>
              <a:t> </a:t>
            </a:r>
            <a:endParaRPr lang="bg-BG" dirty="0"/>
          </a:p>
        </p:txBody>
      </p:sp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id="{8D3D3A73-A6CF-4EFD-951F-DD40DFE3CA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41119" y="2015732"/>
            <a:ext cx="10407185" cy="377546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bg-BG" sz="2400" dirty="0"/>
              <a:t> </a:t>
            </a:r>
            <a:r>
              <a:rPr lang="en-US" sz="2400" dirty="0"/>
              <a:t>HTML 5</a:t>
            </a:r>
            <a:r>
              <a:rPr lang="bg-BG" sz="2400" dirty="0"/>
              <a:t>: </a:t>
            </a:r>
          </a:p>
          <a:p>
            <a:pPr marL="0" indent="0">
              <a:buNone/>
            </a:pPr>
            <a:r>
              <a:rPr lang="en-US" sz="2400" dirty="0"/>
              <a:t>&lt;!DOCTYPE html&gt;</a:t>
            </a:r>
            <a:endParaRPr lang="bg-BG" sz="2400" dirty="0"/>
          </a:p>
          <a:p>
            <a:pPr>
              <a:buFont typeface="Wingdings" panose="05000000000000000000" pitchFamily="2" charset="2"/>
              <a:buChar char="q"/>
            </a:pPr>
            <a:r>
              <a:rPr lang="bg-BG" sz="2400" dirty="0"/>
              <a:t> </a:t>
            </a:r>
            <a:r>
              <a:rPr lang="en-US" sz="2400" dirty="0"/>
              <a:t>HTML </a:t>
            </a:r>
            <a:r>
              <a:rPr lang="bg-BG" sz="2400" dirty="0"/>
              <a:t>4.01: </a:t>
            </a:r>
          </a:p>
          <a:p>
            <a:pPr marL="0" indent="0">
              <a:buNone/>
            </a:pPr>
            <a:r>
              <a:rPr lang="en-US" dirty="0"/>
              <a:t> &lt;!DOCTYPE HTML PUBLIC "-//W3C//DTD HTML 4.01 Transitional//EN" "http://www.w3.org/TR/html4/loose.dtd"&gt;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bg-BG" sz="2400" dirty="0"/>
              <a:t> </a:t>
            </a:r>
            <a:r>
              <a:rPr lang="en-US" sz="2400" dirty="0"/>
              <a:t>XHTML 1.1:</a:t>
            </a:r>
            <a:endParaRPr lang="bg-BG" sz="2400" dirty="0"/>
          </a:p>
          <a:p>
            <a:pPr marL="0" indent="0">
              <a:buNone/>
            </a:pPr>
            <a:r>
              <a:rPr lang="en-US" sz="2400" dirty="0"/>
              <a:t> &lt;!DOCTYPE html PUBLIC "-//W3C//DTD XHTML 1.1//EN" "http://www.w3.org/TR/xhtml11/DTD/xhtml11.dtd"&gt;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6286375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0868BF6F-5B44-47C9-B82A-5B3E611B9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HEAD</a:t>
            </a:r>
            <a:r>
              <a:rPr lang="bg-BG" dirty="0"/>
              <a:t> – контейнер за метаданни</a:t>
            </a:r>
          </a:p>
        </p:txBody>
      </p:sp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id="{1C53929F-5F96-49A9-99EE-4A8A6F4760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015732"/>
            <a:ext cx="10384806" cy="3450613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kumimoji="0" lang="bg-BG" altLang="bg-BG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&lt;</a:t>
            </a:r>
            <a:r>
              <a:rPr kumimoji="0" lang="bg-BG" altLang="bg-BG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meta</a:t>
            </a:r>
            <a:r>
              <a:rPr kumimoji="0" lang="bg-BG" altLang="bg-BG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</a:t>
            </a:r>
            <a:r>
              <a:rPr kumimoji="0" lang="bg-BG" altLang="bg-BG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charset</a:t>
            </a:r>
            <a:r>
              <a:rPr kumimoji="0" lang="bg-BG" altLang="bg-BG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="utf-8"&gt; </a:t>
            </a:r>
            <a:endParaRPr kumimoji="0" lang="en-US" altLang="bg-BG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kumimoji="0" lang="bg-BG" altLang="bg-BG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&lt;</a:t>
            </a:r>
            <a:r>
              <a:rPr kumimoji="0" lang="bg-BG" altLang="bg-BG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meta</a:t>
            </a:r>
            <a:r>
              <a:rPr kumimoji="0" lang="bg-BG" altLang="bg-BG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</a:t>
            </a:r>
            <a:r>
              <a:rPr kumimoji="0" lang="bg-BG" altLang="bg-BG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name</a:t>
            </a:r>
            <a:r>
              <a:rPr kumimoji="0" lang="bg-BG" altLang="bg-BG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="</a:t>
            </a:r>
            <a:r>
              <a:rPr kumimoji="0" lang="bg-BG" altLang="bg-BG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description</a:t>
            </a:r>
            <a:r>
              <a:rPr kumimoji="0" lang="bg-BG" altLang="bg-BG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" </a:t>
            </a:r>
            <a:r>
              <a:rPr kumimoji="0" lang="bg-BG" altLang="bg-BG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content</a:t>
            </a:r>
            <a:r>
              <a:rPr kumimoji="0" lang="bg-BG" altLang="bg-BG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="</a:t>
            </a:r>
            <a:r>
              <a:rPr lang="bg-BG" altLang="bg-BG" dirty="0">
                <a:latin typeface="Arial Unicode MS"/>
              </a:rPr>
              <a:t>Описание на съдържанието на страницата</a:t>
            </a:r>
            <a:r>
              <a:rPr kumimoji="0" lang="bg-BG" altLang="bg-BG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."&gt;</a:t>
            </a:r>
          </a:p>
          <a:p>
            <a:pPr>
              <a:buFont typeface="Wingdings" panose="05000000000000000000" pitchFamily="2" charset="2"/>
              <a:buChar char="q"/>
            </a:pPr>
            <a:r>
              <a:rPr kumimoji="0" lang="bg-BG" altLang="bg-BG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&lt;</a:t>
            </a:r>
            <a:r>
              <a:rPr kumimoji="0" lang="bg-BG" altLang="bg-BG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meta</a:t>
            </a:r>
            <a:r>
              <a:rPr kumimoji="0" lang="bg-BG" altLang="bg-BG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</a:t>
            </a:r>
            <a:r>
              <a:rPr kumimoji="0" lang="bg-BG" altLang="bg-BG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name</a:t>
            </a:r>
            <a:r>
              <a:rPr kumimoji="0" lang="bg-BG" altLang="bg-BG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="</a:t>
            </a:r>
            <a:r>
              <a:rPr kumimoji="0" lang="bg-BG" altLang="bg-BG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keywords</a:t>
            </a:r>
            <a:r>
              <a:rPr kumimoji="0" lang="bg-BG" altLang="bg-BG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" </a:t>
            </a:r>
            <a:r>
              <a:rPr kumimoji="0" lang="bg-BG" altLang="bg-BG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content</a:t>
            </a:r>
            <a:r>
              <a:rPr kumimoji="0" lang="bg-BG" altLang="bg-BG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="ключова дума 1, ключова дума 2, ключова дума 3"&gt;</a:t>
            </a:r>
          </a:p>
          <a:p>
            <a:pPr>
              <a:buFont typeface="Wingdings" panose="05000000000000000000" pitchFamily="2" charset="2"/>
              <a:buChar char="q"/>
            </a:pPr>
            <a:r>
              <a:rPr kumimoji="0" lang="bg-BG" altLang="bg-BG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&lt;</a:t>
            </a:r>
            <a:r>
              <a:rPr kumimoji="0" lang="bg-BG" altLang="bg-BG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meta</a:t>
            </a:r>
            <a:r>
              <a:rPr kumimoji="0" lang="bg-BG" altLang="bg-BG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</a:t>
            </a:r>
            <a:r>
              <a:rPr kumimoji="0" lang="bg-BG" altLang="bg-BG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name</a:t>
            </a:r>
            <a:r>
              <a:rPr kumimoji="0" lang="bg-BG" altLang="bg-BG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="</a:t>
            </a:r>
            <a:r>
              <a:rPr kumimoji="0" lang="bg-BG" altLang="bg-BG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author</a:t>
            </a:r>
            <a:r>
              <a:rPr kumimoji="0" lang="bg-BG" altLang="bg-BG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" </a:t>
            </a:r>
            <a:r>
              <a:rPr kumimoji="0" lang="bg-BG" altLang="bg-BG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content</a:t>
            </a:r>
            <a:r>
              <a:rPr kumimoji="0" lang="bg-BG" altLang="bg-BG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="Доника Стоянова"&gt;</a:t>
            </a:r>
            <a:r>
              <a:rPr kumimoji="0" lang="bg-BG" altLang="bg-BG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bg-BG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bg-BG" altLang="bg-BG" dirty="0">
                <a:latin typeface="Arial Unicode MS"/>
              </a:rPr>
              <a:t> </a:t>
            </a:r>
            <a:r>
              <a:rPr lang="en-US" altLang="bg-BG" dirty="0">
                <a:latin typeface="Arial Unicode MS"/>
              </a:rPr>
              <a:t>&lt;meta name="viewport" content="width=device-width, initial-scale=1.0"&gt;</a:t>
            </a:r>
            <a:endParaRPr lang="bg-BG" altLang="bg-BG" dirty="0">
              <a:latin typeface="Arial Unicode MS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bg-BG" altLang="bg-BG" sz="2100" dirty="0">
                <a:latin typeface="Arial Unicode MS"/>
              </a:rPr>
              <a:t> &lt;</a:t>
            </a:r>
            <a:r>
              <a:rPr lang="bg-BG" altLang="bg-BG" sz="2100" dirty="0" err="1">
                <a:latin typeface="Arial Unicode MS"/>
              </a:rPr>
              <a:t>title</a:t>
            </a:r>
            <a:r>
              <a:rPr lang="bg-BG" altLang="bg-BG" sz="2100" dirty="0">
                <a:latin typeface="Arial Unicode MS"/>
              </a:rPr>
              <a:t>&gt;Наименованието на страницата&lt;/</a:t>
            </a:r>
            <a:r>
              <a:rPr lang="bg-BG" altLang="bg-BG" sz="2100" dirty="0" err="1">
                <a:latin typeface="Arial Unicode MS"/>
              </a:rPr>
              <a:t>title</a:t>
            </a:r>
            <a:r>
              <a:rPr lang="bg-BG" altLang="bg-BG" sz="2100" dirty="0">
                <a:latin typeface="Arial Unicode MS"/>
              </a:rPr>
              <a:t>&gt; </a:t>
            </a:r>
            <a:endParaRPr lang="en-US" altLang="bg-BG" sz="2100" dirty="0">
              <a:latin typeface="Arial Unicode MS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bg-BG" altLang="bg-BG" sz="2100" dirty="0">
                <a:latin typeface="Arial Unicode MS"/>
              </a:rPr>
              <a:t> </a:t>
            </a:r>
            <a:r>
              <a:rPr lang="en-US" altLang="bg-BG" sz="2100" dirty="0">
                <a:latin typeface="Arial Unicode MS"/>
              </a:rPr>
              <a:t>&lt;link </a:t>
            </a:r>
            <a:r>
              <a:rPr lang="en-US" altLang="bg-BG" sz="2100" dirty="0" err="1">
                <a:latin typeface="Arial Unicode MS"/>
              </a:rPr>
              <a:t>rel</a:t>
            </a:r>
            <a:r>
              <a:rPr lang="en-US" altLang="bg-BG" sz="2100" dirty="0">
                <a:latin typeface="Arial Unicode MS"/>
              </a:rPr>
              <a:t>="stylesheet" </a:t>
            </a:r>
            <a:r>
              <a:rPr lang="en-US" altLang="bg-BG" sz="2100" dirty="0" err="1">
                <a:latin typeface="Arial Unicode MS"/>
              </a:rPr>
              <a:t>href</a:t>
            </a:r>
            <a:r>
              <a:rPr lang="en-US" altLang="bg-BG" sz="2100" dirty="0">
                <a:latin typeface="Arial Unicode MS"/>
              </a:rPr>
              <a:t>="style.css"&gt;</a:t>
            </a:r>
            <a:endParaRPr lang="bg-BG" altLang="bg-BG" sz="2100" dirty="0">
              <a:latin typeface="Arial Unicode MS"/>
            </a:endParaRPr>
          </a:p>
          <a:p>
            <a:endParaRPr lang="bg-BG" altLang="bg-BG" sz="2100" dirty="0">
              <a:latin typeface="Arial Unicode MS"/>
            </a:endParaRPr>
          </a:p>
          <a:p>
            <a:endParaRPr kumimoji="0" lang="bg-BG" altLang="bg-BG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kumimoji="0" lang="en-US" altLang="bg-BG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663866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0868BF6F-5B44-47C9-B82A-5B3E611B9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err="1"/>
              <a:t>Основни</a:t>
            </a:r>
            <a:r>
              <a:rPr lang="en-US" sz="4000" dirty="0"/>
              <a:t> HTML </a:t>
            </a:r>
            <a:r>
              <a:rPr lang="en-US" sz="4000" dirty="0" err="1"/>
              <a:t>елементи</a:t>
            </a:r>
            <a:r>
              <a:rPr lang="en-US" sz="4000" dirty="0"/>
              <a:t> </a:t>
            </a:r>
            <a:r>
              <a:rPr lang="en-US" sz="4000" dirty="0" err="1"/>
              <a:t>за</a:t>
            </a:r>
            <a:r>
              <a:rPr lang="en-US" sz="4000" dirty="0"/>
              <a:t> </a:t>
            </a:r>
            <a:br>
              <a:rPr lang="bg-BG" sz="4000" dirty="0"/>
            </a:br>
            <a:r>
              <a:rPr lang="en-US" sz="4000" dirty="0" err="1"/>
              <a:t>структуриране</a:t>
            </a:r>
            <a:r>
              <a:rPr lang="en-US" sz="4000" dirty="0"/>
              <a:t> </a:t>
            </a:r>
            <a:r>
              <a:rPr lang="en-US" sz="4000" dirty="0" err="1"/>
              <a:t>на</a:t>
            </a:r>
            <a:r>
              <a:rPr lang="en-US" sz="4000" dirty="0"/>
              <a:t> </a:t>
            </a:r>
            <a:r>
              <a:rPr lang="en-US" sz="4000" dirty="0" err="1"/>
              <a:t>текст</a:t>
            </a:r>
            <a:endParaRPr lang="bg-BG" sz="4000" dirty="0"/>
          </a:p>
        </p:txBody>
      </p:sp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id="{1C53929F-5F96-49A9-99EE-4A8A6F4760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3808019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bg-BG" dirty="0"/>
              <a:t> </a:t>
            </a:r>
            <a:r>
              <a:rPr lang="en-US" dirty="0"/>
              <a:t>&lt;p&gt;</a:t>
            </a:r>
            <a:r>
              <a:rPr lang="bg-BG" dirty="0"/>
              <a:t>Параграф някакъв</a:t>
            </a:r>
            <a:r>
              <a:rPr lang="en-US" dirty="0"/>
              <a:t>&lt;/p&gt; - </a:t>
            </a:r>
            <a:r>
              <a:rPr lang="bg-BG" dirty="0"/>
              <a:t>параграф 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bg-BG" dirty="0"/>
              <a:t> </a:t>
            </a:r>
            <a:r>
              <a:rPr lang="en-US" dirty="0"/>
              <a:t>&lt;h1&gt;&lt;/h1&gt;, &lt;h2&gt;&lt;/h2&gt;…&lt;h6&gt;&lt;/h6&gt; - </a:t>
            </a:r>
            <a:r>
              <a:rPr lang="bg-BG" dirty="0"/>
              <a:t>заглавия 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bg-BG" dirty="0"/>
              <a:t> </a:t>
            </a:r>
            <a:r>
              <a:rPr lang="en-US" dirty="0"/>
              <a:t>&lt;</a:t>
            </a:r>
            <a:r>
              <a:rPr lang="en-US" dirty="0" err="1"/>
              <a:t>br</a:t>
            </a:r>
            <a:r>
              <a:rPr lang="en-US" dirty="0"/>
              <a:t> /&gt; - </a:t>
            </a:r>
            <a:r>
              <a:rPr lang="bg-BG" dirty="0"/>
              <a:t>нов ред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bg-BG" dirty="0"/>
              <a:t> </a:t>
            </a:r>
            <a:r>
              <a:rPr lang="en-US" dirty="0"/>
              <a:t>&lt;</a:t>
            </a:r>
            <a:r>
              <a:rPr lang="en-US" dirty="0" err="1"/>
              <a:t>hr</a:t>
            </a:r>
            <a:r>
              <a:rPr lang="bg-BG" dirty="0"/>
              <a:t> </a:t>
            </a:r>
            <a:r>
              <a:rPr lang="en-US" dirty="0"/>
              <a:t>/&gt; - </a:t>
            </a:r>
            <a:r>
              <a:rPr lang="bg-BG" dirty="0"/>
              <a:t>хоризонтална разделителна линия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bg-BG" dirty="0"/>
              <a:t> </a:t>
            </a:r>
            <a:r>
              <a:rPr lang="en-US" dirty="0"/>
              <a:t>&lt;div&gt;&lt;/div&gt; - </a:t>
            </a:r>
            <a:r>
              <a:rPr lang="bg-BG" dirty="0"/>
              <a:t>блок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bg-BG" dirty="0"/>
              <a:t> </a:t>
            </a:r>
            <a:r>
              <a:rPr lang="en-US" dirty="0"/>
              <a:t>&lt;span&gt;&lt;/span&gt; - </a:t>
            </a:r>
            <a:r>
              <a:rPr lang="bg-BG" dirty="0" err="1"/>
              <a:t>инлайн</a:t>
            </a:r>
            <a:r>
              <a:rPr lang="bg-BG" dirty="0"/>
              <a:t> елемент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&lt;q&gt;&lt;/q&gt;, &lt;blockquote&gt;&lt;/blockquote&gt; - </a:t>
            </a:r>
            <a:r>
              <a:rPr lang="bg-BG" dirty="0"/>
              <a:t>цитат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bg-BG" dirty="0"/>
              <a:t> </a:t>
            </a:r>
            <a:r>
              <a:rPr lang="en-US" dirty="0"/>
              <a:t>&lt;pre&gt;&lt;/pre&gt; - </a:t>
            </a:r>
            <a:r>
              <a:rPr lang="bg-BG" dirty="0"/>
              <a:t>предварително форматиран текст</a:t>
            </a:r>
            <a:endParaRPr lang="en-US" dirty="0"/>
          </a:p>
          <a:p>
            <a:pPr>
              <a:buFont typeface="Wingdings" panose="05000000000000000000" pitchFamily="2" charset="2"/>
              <a:buChar char="q"/>
            </a:pPr>
            <a:r>
              <a:rPr lang="bg-BG" dirty="0"/>
              <a:t> </a:t>
            </a:r>
            <a:r>
              <a:rPr lang="en-US" dirty="0"/>
              <a:t>&lt;!-- </a:t>
            </a:r>
            <a:r>
              <a:rPr lang="bg-BG" dirty="0"/>
              <a:t>Коментар</a:t>
            </a:r>
            <a:r>
              <a:rPr lang="en-US" dirty="0"/>
              <a:t> --&gt;</a:t>
            </a:r>
          </a:p>
          <a:p>
            <a:pPr marL="0" indent="0">
              <a:buNone/>
            </a:pPr>
            <a:endParaRPr lang="bg-BG" dirty="0"/>
          </a:p>
        </p:txBody>
      </p:sp>
      <p:pic>
        <p:nvPicPr>
          <p:cNvPr id="5" name="Картина 4">
            <a:extLst>
              <a:ext uri="{FF2B5EF4-FFF2-40B4-BE49-F238E27FC236}">
                <a16:creationId xmlns:a16="http://schemas.microsoft.com/office/drawing/2014/main" id="{D70BCDA0-F311-4C2B-8690-5F5BB71E2F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5506" y="483372"/>
            <a:ext cx="2429214" cy="5639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59164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0868BF6F-5B44-47C9-B82A-5B3E611B9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 err="1"/>
              <a:t>Форматиращи</a:t>
            </a:r>
            <a:r>
              <a:rPr lang="en-US" sz="4000" b="1" dirty="0"/>
              <a:t> </a:t>
            </a:r>
            <a:r>
              <a:rPr lang="en-US" sz="4000" b="1" dirty="0" err="1"/>
              <a:t>тагове</a:t>
            </a:r>
            <a:r>
              <a:rPr lang="en-US" sz="4000" b="1" dirty="0"/>
              <a:t> – </a:t>
            </a:r>
            <a:br>
              <a:rPr lang="bg-BG" sz="4000" b="1" dirty="0"/>
            </a:br>
            <a:r>
              <a:rPr lang="en-US" sz="4000" b="1" dirty="0" err="1"/>
              <a:t>семантично</a:t>
            </a:r>
            <a:r>
              <a:rPr lang="en-US" sz="4000" b="1" dirty="0"/>
              <a:t> </a:t>
            </a:r>
            <a:r>
              <a:rPr lang="en-US" sz="4000" b="1" dirty="0" err="1"/>
              <a:t>предназначение</a:t>
            </a:r>
            <a:endParaRPr lang="bg-BG" sz="4000" dirty="0"/>
          </a:p>
        </p:txBody>
      </p:sp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id="{1C53929F-5F96-49A9-99EE-4A8A6F4760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384353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&lt;b&gt;&lt;/b&gt;, &lt;strong&gt;&lt;/strong&gt; - </a:t>
            </a:r>
            <a:r>
              <a:rPr lang="bg-BG" dirty="0"/>
              <a:t>удебеляване</a:t>
            </a:r>
          </a:p>
          <a:p>
            <a:r>
              <a:rPr lang="en-US" dirty="0"/>
              <a:t>&lt;</a:t>
            </a:r>
            <a:r>
              <a:rPr lang="en-US" dirty="0" err="1"/>
              <a:t>i</a:t>
            </a:r>
            <a:r>
              <a:rPr lang="en-US" dirty="0"/>
              <a:t>&gt;&lt;/</a:t>
            </a:r>
            <a:r>
              <a:rPr lang="en-US" dirty="0" err="1"/>
              <a:t>i</a:t>
            </a:r>
            <a:r>
              <a:rPr lang="en-US" dirty="0"/>
              <a:t>&gt;, &lt;</a:t>
            </a:r>
            <a:r>
              <a:rPr lang="en-US" dirty="0" err="1"/>
              <a:t>em</a:t>
            </a:r>
            <a:r>
              <a:rPr lang="en-US" dirty="0"/>
              <a:t>&gt;&lt;/</a:t>
            </a:r>
            <a:r>
              <a:rPr lang="en-US" dirty="0" err="1"/>
              <a:t>em</a:t>
            </a:r>
            <a:r>
              <a:rPr lang="en-US" dirty="0"/>
              <a:t>&gt; - </a:t>
            </a:r>
            <a:r>
              <a:rPr lang="bg-BG" dirty="0"/>
              <a:t>курсив</a:t>
            </a:r>
          </a:p>
          <a:p>
            <a:r>
              <a:rPr lang="en-US" dirty="0"/>
              <a:t>&lt;u&gt;&lt;/u&gt; - </a:t>
            </a:r>
            <a:r>
              <a:rPr lang="bg-BG" dirty="0"/>
              <a:t>подчертаване</a:t>
            </a:r>
            <a:endParaRPr lang="en-US" dirty="0"/>
          </a:p>
          <a:p>
            <a:r>
              <a:rPr lang="en-US" dirty="0"/>
              <a:t>&lt;sup&gt;&lt;/sup&gt; - </a:t>
            </a:r>
            <a:r>
              <a:rPr lang="bg-BG" dirty="0"/>
              <a:t>горен индекс</a:t>
            </a:r>
            <a:endParaRPr lang="en-US" dirty="0"/>
          </a:p>
          <a:p>
            <a:r>
              <a:rPr lang="en-US" dirty="0"/>
              <a:t>&lt;sub&gt;&lt;/sub&gt;</a:t>
            </a:r>
            <a:r>
              <a:rPr lang="bg-BG" dirty="0"/>
              <a:t> - долен индекс</a:t>
            </a:r>
          </a:p>
          <a:p>
            <a:pPr fontAlgn="base">
              <a:spcAft>
                <a:spcPct val="0"/>
              </a:spcAft>
            </a:pPr>
            <a:r>
              <a:rPr lang="bg-BG" altLang="bg-BG" sz="2100" dirty="0"/>
              <a:t>&lt;</a:t>
            </a:r>
            <a:r>
              <a:rPr lang="bg-BG" altLang="bg-BG" sz="2100" dirty="0" err="1"/>
              <a:t>mark</a:t>
            </a:r>
            <a:r>
              <a:rPr lang="bg-BG" altLang="bg-BG" sz="2100" dirty="0"/>
              <a:t>&gt;</a:t>
            </a:r>
            <a:r>
              <a:rPr lang="en-US" altLang="bg-BG" sz="2100" dirty="0"/>
              <a:t>&lt;/mark&gt;</a:t>
            </a:r>
            <a:r>
              <a:rPr lang="bg-BG" altLang="bg-BG" sz="2100" dirty="0"/>
              <a:t> - маркиран текст</a:t>
            </a:r>
          </a:p>
          <a:p>
            <a:pPr fontAlgn="base">
              <a:spcAft>
                <a:spcPct val="0"/>
              </a:spcAft>
            </a:pPr>
            <a:r>
              <a:rPr lang="bg-BG" altLang="bg-BG" sz="2100" dirty="0"/>
              <a:t>&lt;</a:t>
            </a:r>
            <a:r>
              <a:rPr lang="bg-BG" altLang="bg-BG" sz="2100" dirty="0" err="1"/>
              <a:t>small</a:t>
            </a:r>
            <a:r>
              <a:rPr lang="bg-BG" altLang="bg-BG" sz="2100" dirty="0"/>
              <a:t>&gt;&lt;/</a:t>
            </a:r>
            <a:r>
              <a:rPr lang="bg-BG" altLang="bg-BG" sz="2100" dirty="0" err="1"/>
              <a:t>small</a:t>
            </a:r>
            <a:r>
              <a:rPr lang="bg-BG" altLang="bg-BG" sz="2100" dirty="0"/>
              <a:t>&gt; - по-малък текст </a:t>
            </a:r>
          </a:p>
          <a:p>
            <a:pPr fontAlgn="base">
              <a:spcAft>
                <a:spcPct val="0"/>
              </a:spcAft>
            </a:pPr>
            <a:r>
              <a:rPr lang="bg-BG" altLang="bg-BG" sz="2100" dirty="0"/>
              <a:t>&lt;</a:t>
            </a:r>
            <a:r>
              <a:rPr lang="bg-BG" altLang="bg-BG" sz="2100" dirty="0" err="1"/>
              <a:t>del</a:t>
            </a:r>
            <a:r>
              <a:rPr lang="bg-BG" altLang="bg-BG" sz="2100" dirty="0"/>
              <a:t>&gt;&lt;/</a:t>
            </a:r>
            <a:r>
              <a:rPr lang="bg-BG" altLang="bg-BG" sz="2100" dirty="0" err="1"/>
              <a:t>del</a:t>
            </a:r>
            <a:r>
              <a:rPr lang="bg-BG" altLang="bg-BG" sz="2100" dirty="0"/>
              <a:t>&gt; - изтрит текст</a:t>
            </a:r>
          </a:p>
          <a:p>
            <a:pPr fontAlgn="base">
              <a:spcAft>
                <a:spcPct val="0"/>
              </a:spcAft>
            </a:pPr>
            <a:r>
              <a:rPr lang="bg-BG" altLang="bg-BG" sz="2100" dirty="0"/>
              <a:t>&lt;</a:t>
            </a:r>
            <a:r>
              <a:rPr lang="bg-BG" altLang="bg-BG" sz="2100" dirty="0" err="1"/>
              <a:t>ins</a:t>
            </a:r>
            <a:r>
              <a:rPr lang="bg-BG" altLang="bg-BG" sz="2100" dirty="0"/>
              <a:t>&gt;&lt;/</a:t>
            </a:r>
            <a:r>
              <a:rPr lang="bg-BG" altLang="bg-BG" sz="2100" dirty="0" err="1"/>
              <a:t>ins</a:t>
            </a:r>
            <a:r>
              <a:rPr lang="bg-BG" altLang="bg-BG" sz="2100" dirty="0"/>
              <a:t>&gt; - вмъкнат текст</a:t>
            </a:r>
          </a:p>
          <a:p>
            <a:endParaRPr lang="en-US" dirty="0"/>
          </a:p>
          <a:p>
            <a:endParaRPr lang="bg-BG" dirty="0"/>
          </a:p>
          <a:p>
            <a:endParaRPr lang="bg-BG" dirty="0"/>
          </a:p>
          <a:p>
            <a:endParaRPr lang="bg-BG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EE9F78A-EFA8-48A9-B1EB-6C5F9E06C0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5"/>
            <a:ext cx="18473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bg-BG" altLang="bg-BG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bg-BG" altLang="bg-BG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Картина 6">
            <a:extLst>
              <a:ext uri="{FF2B5EF4-FFF2-40B4-BE49-F238E27FC236}">
                <a16:creationId xmlns:a16="http://schemas.microsoft.com/office/drawing/2014/main" id="{713E92EF-A7E5-4435-B8D5-17A9CDEDAC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95243" y="1090286"/>
            <a:ext cx="2791215" cy="4677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96400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0868BF6F-5B44-47C9-B82A-5B3E611B9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Форматиращи атрибути </a:t>
            </a:r>
            <a:r>
              <a:rPr lang="en-US" dirty="0">
                <a:solidFill>
                  <a:srgbClr val="FF0000"/>
                </a:solidFill>
              </a:rPr>
              <a:t>! CSS</a:t>
            </a:r>
            <a:endParaRPr lang="bg-BG" dirty="0"/>
          </a:p>
        </p:txBody>
      </p:sp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id="{1C53929F-5F96-49A9-99EE-4A8A6F4760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bg-BG" dirty="0"/>
              <a:t> </a:t>
            </a:r>
            <a:r>
              <a:rPr lang="en-US" dirty="0"/>
              <a:t>align=“left | right | center | justify”</a:t>
            </a:r>
          </a:p>
          <a:p>
            <a:pPr marL="0" indent="0">
              <a:buNone/>
            </a:pPr>
            <a:r>
              <a:rPr lang="bg-BG" dirty="0"/>
              <a:t>		</a:t>
            </a:r>
            <a:r>
              <a:rPr lang="en-US" dirty="0"/>
              <a:t>&lt;p align=“left”&gt;</a:t>
            </a:r>
            <a:r>
              <a:rPr lang="bg-BG" dirty="0"/>
              <a:t>Параграф</a:t>
            </a:r>
            <a:r>
              <a:rPr lang="en-US" dirty="0"/>
              <a:t>&lt;/p&gt;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bg-BG" dirty="0"/>
              <a:t> </a:t>
            </a:r>
            <a:r>
              <a:rPr lang="en-US" dirty="0"/>
              <a:t>width=“50% | 200px”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bg-BG" dirty="0"/>
              <a:t> </a:t>
            </a:r>
            <a:r>
              <a:rPr lang="en-US" dirty="0"/>
              <a:t>size=“2”</a:t>
            </a:r>
          </a:p>
          <a:p>
            <a:pPr marL="0" indent="0">
              <a:buNone/>
            </a:pPr>
            <a:r>
              <a:rPr lang="bg-BG" dirty="0"/>
              <a:t>		</a:t>
            </a:r>
            <a:r>
              <a:rPr lang="en-US" dirty="0"/>
              <a:t>&lt;</a:t>
            </a:r>
            <a:r>
              <a:rPr lang="en-US" dirty="0" err="1"/>
              <a:t>hr</a:t>
            </a:r>
            <a:r>
              <a:rPr lang="en-US" dirty="0"/>
              <a:t> width=“50% size=“2” color=“red”/&gt;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bg-BG" dirty="0"/>
              <a:t> </a:t>
            </a:r>
            <a:r>
              <a:rPr lang="en-US" dirty="0" err="1"/>
              <a:t>bgcolor</a:t>
            </a:r>
            <a:r>
              <a:rPr lang="en-US" dirty="0"/>
              <a:t>=“white | #FFFFFF | </a:t>
            </a:r>
            <a:r>
              <a:rPr lang="en-US" dirty="0" err="1"/>
              <a:t>rgb</a:t>
            </a:r>
            <a:r>
              <a:rPr lang="en-US" dirty="0"/>
              <a:t>(255,255,255)”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bg-BG" dirty="0"/>
              <a:t> </a:t>
            </a:r>
            <a:r>
              <a:rPr lang="en-US" dirty="0"/>
              <a:t>background=“myimage.jpg“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bg-BG" dirty="0"/>
          </a:p>
          <a:p>
            <a:endParaRPr lang="bg-BG" dirty="0"/>
          </a:p>
          <a:p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6483281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778A5465-97FC-406F-A2F5-6DE4A1CC52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dirty="0">
                <a:solidFill>
                  <a:schemeClr val="tx1"/>
                </a:solidFill>
                <a:latin typeface="Calibri Light (Headings)"/>
              </a:rPr>
              <a:t>Списъци в </a:t>
            </a:r>
            <a:r>
              <a:rPr lang="en-US" dirty="0">
                <a:solidFill>
                  <a:schemeClr val="tx1"/>
                </a:solidFill>
                <a:latin typeface="Calibri Light (Headings)"/>
              </a:rPr>
              <a:t>HTML</a:t>
            </a:r>
            <a:endParaRPr lang="bg-BG" dirty="0">
              <a:solidFill>
                <a:schemeClr val="tx1"/>
              </a:solidFill>
              <a:latin typeface="Calibri Light (Headings)"/>
            </a:endParaRPr>
          </a:p>
        </p:txBody>
      </p:sp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id="{813D9B76-B3E0-45EA-97D2-CE0560D6FE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229852"/>
            <a:ext cx="10058400" cy="3639241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  <a:buFont typeface="Wingdings" panose="05000000000000000000" pitchFamily="2" charset="2"/>
              <a:buChar char="q"/>
            </a:pPr>
            <a:r>
              <a:rPr lang="bg-BG" sz="2400" dirty="0"/>
              <a:t> П</a:t>
            </a:r>
            <a:r>
              <a:rPr lang="ru-RU" sz="2400" dirty="0" err="1"/>
              <a:t>озволяват</a:t>
            </a:r>
            <a:r>
              <a:rPr lang="ru-RU" sz="2400" dirty="0"/>
              <a:t> на уеб </a:t>
            </a:r>
            <a:r>
              <a:rPr lang="ru-RU" sz="2400" dirty="0" err="1"/>
              <a:t>разработчиците</a:t>
            </a:r>
            <a:r>
              <a:rPr lang="ru-RU" sz="2400" dirty="0"/>
              <a:t> да </a:t>
            </a:r>
            <a:r>
              <a:rPr lang="ru-RU" sz="2400" dirty="0" err="1"/>
              <a:t>групират</a:t>
            </a:r>
            <a:r>
              <a:rPr lang="ru-RU" sz="2400" dirty="0"/>
              <a:t> набор от </a:t>
            </a:r>
            <a:r>
              <a:rPr lang="ru-RU" sz="2400" dirty="0" err="1"/>
              <a:t>свързани</a:t>
            </a:r>
            <a:r>
              <a:rPr lang="ru-RU" sz="2400" dirty="0"/>
              <a:t> </a:t>
            </a:r>
            <a:r>
              <a:rPr lang="ru-RU" sz="2400" dirty="0" err="1"/>
              <a:t>елементи</a:t>
            </a:r>
            <a:r>
              <a:rPr lang="ru-RU" sz="2400" dirty="0"/>
              <a:t> в </a:t>
            </a:r>
            <a:r>
              <a:rPr lang="ru-RU" sz="2400" dirty="0" err="1"/>
              <a:t>списъци</a:t>
            </a:r>
            <a:endParaRPr lang="bg-BG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030E626-844E-C1F4-DC54-92A1C9885A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4255" y="3429000"/>
            <a:ext cx="2451204" cy="237276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32D4D31-3685-7879-0CA7-0728D5E1D0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341508"/>
            <a:ext cx="2292334" cy="237276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195198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FB5083AB-C809-4417-A4CA-6F4D0FC29A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Неномерирани</a:t>
            </a:r>
            <a:r>
              <a:rPr lang="en-US" dirty="0"/>
              <a:t> </a:t>
            </a:r>
            <a:r>
              <a:rPr lang="bg-BG" dirty="0"/>
              <a:t>списъци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448DDCF-89F8-A61A-CA03-F9B6930876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554583" y="3271756"/>
            <a:ext cx="1143160" cy="117173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4D808CB-6939-F534-95B0-DAEBBDD120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8124" y="2250254"/>
            <a:ext cx="5470037" cy="296992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18B1BC7-B8AD-ECA1-CB05-752D996020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5069" y="2450280"/>
            <a:ext cx="2451204" cy="237276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89089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FB5083AB-C809-4417-A4CA-6F4D0FC29A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Номерирани</a:t>
            </a:r>
            <a:r>
              <a:rPr lang="en-US" dirty="0"/>
              <a:t> </a:t>
            </a:r>
            <a:r>
              <a:rPr lang="bg-BG" dirty="0"/>
              <a:t>списъци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FAC445-87DE-1BAA-9E30-C647227A41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FA3650B-705C-E012-2F7E-48F2374565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2774" y="2126127"/>
            <a:ext cx="1558084" cy="161275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AB94F10-6673-6214-DE98-D0BE43B600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7691" y="2272069"/>
            <a:ext cx="4211592" cy="300598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B991E7C-6791-3610-80D2-0908067801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5431" y="2126127"/>
            <a:ext cx="1530048" cy="161275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70EEE99-C8A1-4B6B-19DA-04D03A135F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75834" y="4157612"/>
            <a:ext cx="1530048" cy="144297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4766189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0DFEE591-C3DD-48D6-A76E-FF3556C58F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Номерирани</a:t>
            </a:r>
            <a:r>
              <a:rPr lang="en-US" dirty="0"/>
              <a:t> </a:t>
            </a:r>
            <a:r>
              <a:rPr lang="bg-BG" dirty="0"/>
              <a:t>списъци</a:t>
            </a:r>
            <a:r>
              <a:rPr lang="en-US" dirty="0"/>
              <a:t> - </a:t>
            </a:r>
            <a:r>
              <a:rPr lang="bg-BG" dirty="0"/>
              <a:t>други атрибути</a:t>
            </a:r>
          </a:p>
        </p:txBody>
      </p:sp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id="{A718E9ED-CF89-4C2A-BBE5-4A0E9BA078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bg-BG" sz="2400" dirty="0"/>
              <a:t> </a:t>
            </a:r>
            <a:r>
              <a:rPr lang="en-US" sz="2400" dirty="0"/>
              <a:t>reversed="true“ – </a:t>
            </a:r>
            <a:r>
              <a:rPr lang="bg-BG" sz="2400" dirty="0"/>
              <a:t>обръща реда на изброяването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bg-BG" sz="2400" dirty="0"/>
              <a:t> </a:t>
            </a:r>
            <a:r>
              <a:rPr lang="en-US" sz="2400" dirty="0"/>
              <a:t>start=“12” </a:t>
            </a:r>
            <a:r>
              <a:rPr lang="bg-BG" sz="2400" dirty="0"/>
              <a:t>– задава номера, от който да започне броенето</a:t>
            </a:r>
          </a:p>
          <a:p>
            <a:pPr marL="0" indent="0">
              <a:buNone/>
            </a:pPr>
            <a:endParaRPr lang="bg-BG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46488EE-8522-724D-B156-22D2456880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1894" y="3559244"/>
            <a:ext cx="1606295" cy="153936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AF7A5B1-902C-4D90-1C96-97D05DF7D1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8476" y="3251667"/>
            <a:ext cx="5708874" cy="215452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873959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81853DD8-D51A-403E-820D-3787566598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01360" y="707475"/>
            <a:ext cx="4912209" cy="1312001"/>
          </a:xfrm>
        </p:spPr>
        <p:txBody>
          <a:bodyPr anchor="t">
            <a:normAutofit/>
          </a:bodyPr>
          <a:lstStyle/>
          <a:p>
            <a:r>
              <a:rPr lang="bg-BG" dirty="0"/>
              <a:t>Вложени списъци</a:t>
            </a:r>
          </a:p>
        </p:txBody>
      </p:sp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id="{F99D6080-7B09-4609-9DBE-AE1A21C8C5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54138" y="2273608"/>
            <a:ext cx="3159432" cy="3940925"/>
          </a:xfrm>
        </p:spPr>
        <p:txBody>
          <a:bodyPr>
            <a:normAutofit/>
          </a:bodyPr>
          <a:lstStyle/>
          <a:p>
            <a:endParaRPr lang="bg-BG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E58DF09-DD7A-F7F2-A891-EEBFBF212A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2491" y="456777"/>
            <a:ext cx="3830164" cy="559023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B664DD0-8D9A-35E1-61DA-52935B0D21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1009" y="2080996"/>
            <a:ext cx="2750192" cy="345501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205569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65944F65-C8D6-4AFB-A15D-8E444ECC31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Дефиниращи списъци</a:t>
            </a:r>
          </a:p>
        </p:txBody>
      </p:sp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id="{6F4C0406-2A06-49E0-BC17-09D6D1E45D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bg-BG" sz="2400" dirty="0"/>
              <a:t> Използват се за извеждане на дефиниции на термини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9D6277C-EA88-9090-BC56-8DB58B1631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421" y="2512305"/>
            <a:ext cx="6923352" cy="247201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F776844-5D0F-AFAF-CE77-D918E9ED09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6029" y="5092698"/>
            <a:ext cx="9192908" cy="155279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2344639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5608</TotalTime>
  <Words>746</Words>
  <Application>Microsoft Office PowerPoint</Application>
  <PresentationFormat>Widescreen</PresentationFormat>
  <Paragraphs>90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6" baseType="lpstr">
      <vt:lpstr>Arial</vt:lpstr>
      <vt:lpstr>Arial Unicode MS</vt:lpstr>
      <vt:lpstr>Calibri</vt:lpstr>
      <vt:lpstr>Calibri Light</vt:lpstr>
      <vt:lpstr>Calibri Light (Headings)</vt:lpstr>
      <vt:lpstr>GXCEQR+Times-Roman</vt:lpstr>
      <vt:lpstr>SPFBFR+Palatino-Roman</vt:lpstr>
      <vt:lpstr>Wingdings</vt:lpstr>
      <vt:lpstr>Retrospect</vt:lpstr>
      <vt:lpstr>Въведение в HTML. Основни тагове</vt:lpstr>
      <vt:lpstr>HTML</vt:lpstr>
      <vt:lpstr>Създаване на HTML страници</vt:lpstr>
      <vt:lpstr>HTML елементи</vt:lpstr>
      <vt:lpstr>Атрибути</vt:lpstr>
      <vt:lpstr>Структура на HTML  документ </vt:lpstr>
      <vt:lpstr>Декларация на типа на документа </vt:lpstr>
      <vt:lpstr>HEAD – контейнер за метаданни</vt:lpstr>
      <vt:lpstr>Основни HTML елементи за  структуриране на текст</vt:lpstr>
      <vt:lpstr>Форматиращи тагове –  семантично предназначение</vt:lpstr>
      <vt:lpstr>Форматиращи атрибути ! CSS</vt:lpstr>
      <vt:lpstr>Списъци в HTML</vt:lpstr>
      <vt:lpstr>Неномерирани списъци</vt:lpstr>
      <vt:lpstr>Номерирани списъци</vt:lpstr>
      <vt:lpstr>Номерирани списъци - други атрибути</vt:lpstr>
      <vt:lpstr>Вложени списъци</vt:lpstr>
      <vt:lpstr>Дефиниращи списъци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на PowerPoint</dc:title>
  <dc:creator>ас. Доника Георгиева Стоянова</dc:creator>
  <cp:lastModifiedBy>гл. ас. д-р Доника Георгиева Стоянова</cp:lastModifiedBy>
  <cp:revision>49</cp:revision>
  <dcterms:created xsi:type="dcterms:W3CDTF">2021-10-03T10:40:05Z</dcterms:created>
  <dcterms:modified xsi:type="dcterms:W3CDTF">2026-09-12T18:19:28Z</dcterms:modified>
</cp:coreProperties>
</file>