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77" r:id="rId9"/>
    <p:sldId id="274" r:id="rId10"/>
    <p:sldId id="257" r:id="rId11"/>
    <p:sldId id="258" r:id="rId12"/>
    <p:sldId id="259" r:id="rId13"/>
    <p:sldId id="267" r:id="rId14"/>
    <p:sldId id="268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60"/>
  </p:normalViewPr>
  <p:slideViewPr>
    <p:cSldViewPr snapToGrid="0">
      <p:cViewPr>
        <p:scale>
          <a:sx n="66" d="100"/>
          <a:sy n="66" d="100"/>
        </p:scale>
        <p:origin x="38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60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71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10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5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8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88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3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1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2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eveloper.mozilla.org/en-US/docs/Web/Media/Formats/Image_typ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4C8976-17C4-45EC-947C-021A5037E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Hyperlinks and images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C5D0EA47-5C8B-452D-B0C3-4037FFDD6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EXERCISE</a:t>
            </a:r>
            <a:r>
              <a:rPr lang="bg-BG" dirty="0"/>
              <a:t> </a:t>
            </a:r>
            <a:r>
              <a:rPr lang="en-US" dirty="0"/>
              <a:t>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0437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8962390-C2F3-41E3-B653-09F648C7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17D9EBC-A343-4AB0-A5D5-0AD20F696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References to</a:t>
            </a:r>
            <a:r>
              <a:rPr lang="bg-BG" sz="3600" dirty="0"/>
              <a:t>:</a:t>
            </a:r>
          </a:p>
          <a:p>
            <a:pPr lvl="1"/>
            <a:r>
              <a:rPr lang="en-US" sz="3200" dirty="0"/>
              <a:t>another HTML page;</a:t>
            </a:r>
          </a:p>
          <a:p>
            <a:pPr lvl="1"/>
            <a:r>
              <a:rPr lang="en-US" sz="3200" dirty="0"/>
              <a:t>external Internet resources;</a:t>
            </a:r>
          </a:p>
          <a:p>
            <a:pPr lvl="1"/>
            <a:r>
              <a:rPr lang="en-US" sz="3200" dirty="0"/>
              <a:t>files;</a:t>
            </a:r>
          </a:p>
          <a:p>
            <a:pPr lvl="1"/>
            <a:r>
              <a:rPr lang="en-US" sz="3200" dirty="0"/>
              <a:t>e-mail addresses;</a:t>
            </a:r>
          </a:p>
          <a:p>
            <a:pPr lvl="1"/>
            <a:r>
              <a:rPr lang="en-US" sz="3200" dirty="0"/>
              <a:t>text from the page</a:t>
            </a:r>
            <a:r>
              <a:rPr lang="bg-BG" sz="32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Text or image</a:t>
            </a:r>
            <a:r>
              <a:rPr lang="bg-BG" sz="3600" dirty="0"/>
              <a:t>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9701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9DE4B9B-E50A-4B66-81A2-A16BD48D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Hyperlinks - element &lt;a&gt;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8DA6DB5-9975-4136-A18C-00C0EFB4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&lt;a </a:t>
            </a:r>
            <a:r>
              <a:rPr lang="en-US" sz="4400" dirty="0" err="1"/>
              <a:t>href</a:t>
            </a:r>
            <a:r>
              <a:rPr lang="en-US" sz="4400" dirty="0"/>
              <a:t>=“</a:t>
            </a:r>
            <a:r>
              <a:rPr lang="en-US" sz="4400" dirty="0" err="1"/>
              <a:t>someURL</a:t>
            </a:r>
            <a:r>
              <a:rPr lang="en-US" sz="4400" dirty="0"/>
              <a:t>”&gt;Some text&lt;/a&gt;</a:t>
            </a:r>
            <a:endParaRPr lang="bg-BG" sz="44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0667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98592AC-C59C-4403-904A-CDCF9436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hyperlinks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647FEE0-80FC-47D4-8635-D452B38C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032" y="2015732"/>
            <a:ext cx="10564427" cy="373699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0" i="0" dirty="0">
                <a:effectLst/>
                <a:latin typeface="Arial" panose="020B0604020202020204" pitchFamily="34" charset="0"/>
              </a:rPr>
              <a:t> Global – to other Internet resources</a:t>
            </a:r>
            <a:r>
              <a:rPr lang="bg-BG" sz="3200" dirty="0">
                <a:latin typeface="Arial" panose="020B0604020202020204" pitchFamily="34" charset="0"/>
              </a:rPr>
              <a:t> </a:t>
            </a: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https://www.tu-varna.bg/</a:t>
            </a:r>
            <a:r>
              <a:rPr lang="en-US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tu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-varna/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/&gt;</a:t>
            </a:r>
            <a:r>
              <a:rPr lang="bg-BG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ТУ-Варна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&lt;/a&gt;</a:t>
            </a:r>
            <a:endParaRPr lang="bg-BG" sz="3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3200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sz="3200" b="0" i="0" dirty="0">
                <a:effectLst/>
                <a:latin typeface="Arial" panose="020B0604020202020204" pitchFamily="34" charset="0"/>
              </a:rPr>
              <a:t>Local – to other pages on the same site</a:t>
            </a:r>
            <a:endParaRPr lang="bg-BG" sz="3200" b="0" i="0" dirty="0">
              <a:effectLst/>
              <a:latin typeface="Arial" panose="020B0604020202020204" pitchFamily="34" charset="0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3200" dirty="0">
                <a:solidFill>
                  <a:srgbClr val="FF0000"/>
                </a:solidFill>
                <a:latin typeface="Arial" panose="020B0604020202020204" pitchFamily="34" charset="0"/>
              </a:rPr>
              <a:t>&lt;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a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href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=“../info/aboutus.html”&gt;</a:t>
            </a:r>
            <a:r>
              <a:rPr lang="bg-BG" sz="3200" dirty="0">
                <a:solidFill>
                  <a:srgbClr val="FF0000"/>
                </a:solidFill>
                <a:latin typeface="Arial" panose="020B0604020202020204" pitchFamily="34" charset="0"/>
              </a:rPr>
              <a:t>За нас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&lt;/a&gt;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</a:rPr>
              <a:t>Email hyperlinks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&lt;a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href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="mailto:myemail@mail.bg"&gt;Email to us &lt;/a&gt;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endParaRPr lang="en-US" sz="3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5919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D96BA66-00A3-471A-BFCF-A398337E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hyperlinks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9C6A4B1-B5A9-423E-AFC8-DA03319A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1304"/>
            <a:ext cx="10058400" cy="38477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</a:rPr>
              <a:t> Hyperlinks to a file</a:t>
            </a:r>
            <a:endParaRPr lang="bg-BG" sz="2800" b="0" i="0" dirty="0">
              <a:effectLst/>
              <a:latin typeface="Arial" panose="020B0604020202020204" pitchFamily="34" charset="0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“students.xlsx”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download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Изтег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</a:rPr>
              <a:t>ли списък на студентите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&lt;/a&gt;</a:t>
            </a:r>
            <a:endParaRPr lang="bg-BG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0" i="0" dirty="0">
                <a:effectLst/>
                <a:latin typeface="Arial" panose="020B0604020202020204" pitchFamily="34" charset="0"/>
              </a:rPr>
              <a:t> Internal – to anchors on the same page</a:t>
            </a: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&lt;h2 id=“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aboutus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”&gt;About us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&lt;/h2&gt;        </a:t>
            </a: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#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aboutus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&gt;About us&lt;/a&gt;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496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BEE121B-909E-4FC6-8985-1A7B7021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hyperlink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F35CE20-2BB6-458D-97C2-1CFCB2920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bg-BG" sz="3200" dirty="0">
              <a:latin typeface="Arial" panose="020B0604020202020204" pitchFamily="34" charset="0"/>
            </a:endParaRPr>
          </a:p>
          <a:p>
            <a:endParaRPr lang="bg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7B992-B73D-097C-5D7E-BA0A5743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91" y="3024429"/>
            <a:ext cx="7330268" cy="1665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4861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D40580B-C5EA-4DDB-9F3C-648375BB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attributes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DD5ABD3-F540-41EB-9F2F-6C7C43177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7346"/>
            <a:ext cx="10058400" cy="38317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href</a:t>
            </a:r>
            <a:r>
              <a:rPr lang="en-US" sz="3200" dirty="0">
                <a:latin typeface="Arial" panose="020B0604020202020204" pitchFamily="34" charset="0"/>
              </a:rPr>
              <a:t>=“../info/aboutus.html”</a:t>
            </a:r>
            <a:endParaRPr lang="bg-BG" sz="32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</a:rPr>
              <a:t>target=“</a:t>
            </a:r>
            <a:r>
              <a:rPr lang="en-US" sz="3200" b="0" i="0" dirty="0">
                <a:effectLst/>
                <a:latin typeface="Arial" panose="020B0604020202020204" pitchFamily="34" charset="0"/>
              </a:rPr>
              <a:t>_self | _blank | _parent | _top</a:t>
            </a:r>
            <a:r>
              <a:rPr lang="en-US" sz="3200" dirty="0">
                <a:latin typeface="Arial" panose="020B0604020202020204" pitchFamily="34" charset="0"/>
              </a:rPr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</a:rPr>
              <a:t>title – text that appears when the mouse hovers over the link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</a:rPr>
              <a:t>download</a:t>
            </a:r>
            <a:endParaRPr lang="ru-RU" sz="3200" dirty="0"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2612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030D-E5B9-30BF-183D-977BF521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a path in a hyperlink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CAE0-8FDD-8B0E-FD41-2A1E66EB9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7818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index.html: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 "about/profile.html"  | </a:t>
            </a:r>
            <a:r>
              <a:rPr lang="en-US" dirty="0" err="1"/>
              <a:t>href</a:t>
            </a:r>
            <a:r>
              <a:rPr lang="en-US" dirty="0"/>
              <a:t>="./about/profile.html"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=“products/phones/mobiles.html”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profile.html: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dirty="0" err="1"/>
              <a:t>href</a:t>
            </a:r>
            <a:r>
              <a:rPr lang="en-US" dirty="0"/>
              <a:t>="../index.html"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tablets.html: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dirty="0" err="1"/>
              <a:t>href</a:t>
            </a:r>
            <a:r>
              <a:rPr lang="en-US" dirty="0"/>
              <a:t>="phones/mobiles.html"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mobiles.html: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="../../index.html"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="../tablets.html"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="../../about/profile.html"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16AD3-2AFB-D402-585D-B3D4303DD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791328"/>
            <a:ext cx="5015620" cy="30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0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8A6A367-78C5-444B-A711-CC1CEF99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90FF59D-24B8-A190-9AFA-CA432BAA3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179" y="2254628"/>
            <a:ext cx="4953815" cy="816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147CA8-FD15-7866-2DFB-9E37E10E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89336"/>
            <a:ext cx="4039164" cy="18671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2536B-B508-5067-3366-159A39225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27" y="3901082"/>
            <a:ext cx="5534797" cy="22482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213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1FF7ABD-3CEC-4F7A-A680-919A9B0D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5" y="200838"/>
            <a:ext cx="10413170" cy="1049235"/>
          </a:xfrm>
        </p:spPr>
        <p:txBody>
          <a:bodyPr>
            <a:noAutofit/>
          </a:bodyPr>
          <a:lstStyle/>
          <a:p>
            <a:r>
              <a:rPr lang="en-US" sz="3200" dirty="0"/>
              <a:t>Image formats supported by browsers</a:t>
            </a:r>
            <a:endParaRPr lang="bg-BG" sz="3200" dirty="0"/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CE51E654-431B-455C-BB07-58652756105C}"/>
              </a:ext>
            </a:extLst>
          </p:cNvPr>
          <p:cNvSpPr txBox="1"/>
          <p:nvPr/>
        </p:nvSpPr>
        <p:spPr>
          <a:xfrm>
            <a:off x="471056" y="5587430"/>
            <a:ext cx="11720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</a:t>
            </a:r>
            <a:r>
              <a:rPr lang="bg-BG" dirty="0"/>
              <a:t>: </a:t>
            </a:r>
            <a:r>
              <a:rPr lang="en-US" dirty="0"/>
              <a:t> APNG</a:t>
            </a:r>
            <a:r>
              <a:rPr lang="bg-BG" dirty="0"/>
              <a:t>,  </a:t>
            </a:r>
            <a:r>
              <a:rPr lang="en-US" dirty="0"/>
              <a:t>AVIF</a:t>
            </a:r>
            <a:r>
              <a:rPr lang="bg-BG" dirty="0"/>
              <a:t>...   </a:t>
            </a:r>
            <a:r>
              <a:rPr lang="en-US" dirty="0"/>
              <a:t>More</a:t>
            </a:r>
            <a:r>
              <a:rPr lang="bg-BG" dirty="0"/>
              <a:t>: </a:t>
            </a:r>
            <a:r>
              <a:rPr lang="en-US" dirty="0">
                <a:hlinkClick r:id="rId2"/>
              </a:rPr>
              <a:t>https://developer.mozilla.org/en-US/docs/Web/Media/Formats/Image_types</a:t>
            </a:r>
            <a:r>
              <a:rPr lang="bg-BG" dirty="0"/>
              <a:t> </a:t>
            </a:r>
            <a:endParaRPr lang="bg-BG" sz="1800" dirty="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6AE5E6A3-660D-439B-809A-D3449F0BD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47790"/>
              </p:ext>
            </p:extLst>
          </p:nvPr>
        </p:nvGraphicFramePr>
        <p:xfrm>
          <a:off x="558365" y="1170658"/>
          <a:ext cx="10653706" cy="4255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304">
                  <a:extLst>
                    <a:ext uri="{9D8B030D-6E8A-4147-A177-3AD203B41FA5}">
                      <a16:colId xmlns:a16="http://schemas.microsoft.com/office/drawing/2014/main" val="282095708"/>
                    </a:ext>
                  </a:extLst>
                </a:gridCol>
                <a:gridCol w="3621530">
                  <a:extLst>
                    <a:ext uri="{9D8B030D-6E8A-4147-A177-3AD203B41FA5}">
                      <a16:colId xmlns:a16="http://schemas.microsoft.com/office/drawing/2014/main" val="2205060135"/>
                    </a:ext>
                  </a:extLst>
                </a:gridCol>
                <a:gridCol w="6012872">
                  <a:extLst>
                    <a:ext uri="{9D8B030D-6E8A-4147-A177-3AD203B41FA5}">
                      <a16:colId xmlns:a16="http://schemas.microsoft.com/office/drawing/2014/main" val="99787958"/>
                    </a:ext>
                  </a:extLst>
                </a:gridCol>
              </a:tblGrid>
              <a:tr h="289937">
                <a:tc>
                  <a:txBody>
                    <a:bodyPr/>
                    <a:lstStyle/>
                    <a:p>
                      <a:r>
                        <a:rPr lang="bg-BG" sz="1400" dirty="0"/>
                        <a:t>Формат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Характеристики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Употреба</a:t>
                      </a:r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442734639"/>
                  </a:ext>
                </a:extLst>
              </a:tr>
              <a:tr h="1119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GIF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256 (8-bit color)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Lossless compression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Supports transparency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Ability to create animated images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High-sharpness images, limited colors, text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Logo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Graphics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 animated images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2931996836"/>
                  </a:ext>
                </a:extLst>
              </a:tr>
              <a:tr h="579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JPEG</a:t>
                      </a:r>
                      <a:endParaRPr lang="bg-BG" sz="1400" dirty="0"/>
                    </a:p>
                    <a:p>
                      <a:pPr algn="ctr"/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16.7 million (24-bit color)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Lossy compression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Images with many blending colors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Still images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372243502"/>
                  </a:ext>
                </a:extLst>
              </a:tr>
              <a:tr h="700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PNG</a:t>
                      </a:r>
                      <a:endParaRPr lang="bg-BG" sz="1400" dirty="0"/>
                    </a:p>
                    <a:p>
                      <a:pPr algn="ctr"/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16.7 million (24-bit color)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Lossless compression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Supports transparency</a:t>
                      </a:r>
                      <a:endParaRPr lang="bg-BG" sz="1400" dirty="0"/>
                    </a:p>
                  </a:txBody>
                  <a:tcPr marL="77698" marR="77698" marT="38849" marB="38849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When more precise image reproduction is required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When transparency is required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96792877"/>
                  </a:ext>
                </a:extLst>
              </a:tr>
              <a:tr h="5805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SVG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Scalable Vector Graphics</a:t>
                      </a:r>
                    </a:p>
                  </a:txBody>
                  <a:tcPr marL="77698" marR="77698" marT="38849" marB="3884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</a:rPr>
                        <a:t>Ideal for user interface elements, icons, diagrams, etc., that need to be drawn precisely at various sizes.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011565752"/>
                  </a:ext>
                </a:extLst>
              </a:tr>
              <a:tr h="7539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WebP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</a:rPr>
                        <a:t>Web image format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</a:rPr>
                        <a:t>Lossless and lossy compression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effectLst/>
                        </a:rPr>
                        <a:t>Much better compression than PNG or JPEG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When greater color depths, animated frames, transparency, etc., are required.</a:t>
                      </a:r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2789236984"/>
                  </a:ext>
                </a:extLst>
              </a:tr>
            </a:tbl>
          </a:graphicData>
        </a:graphic>
      </p:graphicFrame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7D8372C5-0A81-4708-9BA8-541B21F1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822" y="0"/>
            <a:ext cx="1825426" cy="117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1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62E3881-A17D-48A5-BC0B-BB340F4FD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– element</a:t>
            </a: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bg-BG" dirty="0"/>
              <a:t> </a:t>
            </a:r>
            <a:r>
              <a:rPr lang="en-US" dirty="0"/>
              <a:t>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7DED3C4-5B03-400B-8941-98A36011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312" y="2101993"/>
            <a:ext cx="10797403" cy="3450613"/>
          </a:xfrm>
        </p:spPr>
        <p:txBody>
          <a:bodyPr/>
          <a:lstStyle/>
          <a:p>
            <a:pPr marL="0" indent="0">
              <a:buNone/>
            </a:pPr>
            <a:endParaRPr lang="bg-BG" sz="2800" dirty="0">
              <a:effectLst/>
            </a:endParaRPr>
          </a:p>
          <a:p>
            <a:pPr marL="0" indent="0">
              <a:buNone/>
            </a:pPr>
            <a:endParaRPr lang="bg-BG" sz="2800" dirty="0"/>
          </a:p>
          <a:p>
            <a:pPr marL="0" indent="0">
              <a:buNone/>
            </a:pPr>
            <a:r>
              <a:rPr lang="en-US" sz="3200" dirty="0">
                <a:effectLst/>
              </a:rPr>
              <a:t>&lt;</a:t>
            </a:r>
            <a:r>
              <a:rPr lang="en-US" sz="3200" dirty="0" err="1">
                <a:effectLst/>
              </a:rPr>
              <a:t>img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src</a:t>
            </a:r>
            <a:r>
              <a:rPr lang="en-US" sz="3200" dirty="0">
                <a:effectLst/>
              </a:rPr>
              <a:t>=“roses.jpg" alt=“A vase with red roses“ /&gt;</a:t>
            </a:r>
            <a:endParaRPr lang="bg-BG" sz="3200" dirty="0"/>
          </a:p>
          <a:p>
            <a:endParaRPr lang="bg-BG" dirty="0"/>
          </a:p>
        </p:txBody>
      </p:sp>
      <p:pic>
        <p:nvPicPr>
          <p:cNvPr id="4" name="Картина 3" descr="Картина, която съдържа растение, цвете, букет, закрито&#10;&#10;Описанието е генерирано автоматично">
            <a:extLst>
              <a:ext uri="{FF2B5EF4-FFF2-40B4-BE49-F238E27FC236}">
                <a16:creationId xmlns:a16="http://schemas.microsoft.com/office/drawing/2014/main" id="{74D0CE92-533D-4F5B-A6A0-1368DDCEA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567" y="2172709"/>
            <a:ext cx="2521920" cy="276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2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0402D5-69AC-47B2-A57F-8D7AD944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attributes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ADECC30-B481-42F6-A596-F41EBAC3C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1" y="1953087"/>
            <a:ext cx="10522194" cy="38173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effectLst/>
              </a:rPr>
              <a:t> </a:t>
            </a:r>
            <a:r>
              <a:rPr lang="en-US" sz="2400" dirty="0" err="1">
                <a:effectLst/>
              </a:rPr>
              <a:t>src</a:t>
            </a:r>
            <a:r>
              <a:rPr lang="en-US" sz="2400" dirty="0">
                <a:effectLst/>
              </a:rPr>
              <a:t>=</a:t>
            </a:r>
            <a:r>
              <a:rPr lang="en-US" sz="2400" dirty="0"/>
              <a:t>“</a:t>
            </a:r>
            <a:r>
              <a:rPr lang="en-US" sz="2400" dirty="0">
                <a:effectLst/>
              </a:rPr>
              <a:t>roses.jpg</a:t>
            </a:r>
            <a:r>
              <a:rPr lang="en-US" sz="2400" dirty="0"/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effectLst/>
              </a:rPr>
              <a:t> </a:t>
            </a:r>
            <a:r>
              <a:rPr lang="en-US" sz="2400" dirty="0">
                <a:effectLst/>
              </a:rPr>
              <a:t>alt=“A vase with red roses“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title=“</a:t>
            </a:r>
            <a:r>
              <a:rPr lang="en-US" sz="2400" dirty="0">
                <a:effectLst/>
              </a:rPr>
              <a:t>My birthday flowers</a:t>
            </a:r>
            <a:r>
              <a:rPr lang="en-US" sz="2400" dirty="0"/>
              <a:t>” </a:t>
            </a:r>
            <a:r>
              <a:rPr lang="en-US" sz="2400" dirty="0">
                <a:latin typeface="Arial" panose="020B0604020202020204" pitchFamily="34" charset="0"/>
              </a:rPr>
              <a:t>– </a:t>
            </a:r>
            <a:r>
              <a:rPr lang="en-US" sz="2400" dirty="0"/>
              <a:t>text that appears when the mouse hovers over the image</a:t>
            </a:r>
            <a:endParaRPr lang="en-US" sz="24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width, height</a:t>
            </a:r>
            <a:endParaRPr lang="bg-BG" sz="2400" dirty="0">
              <a:effectLst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9519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903C45A-9AE5-4780-8261-C55ACAA7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</a:t>
            </a:r>
            <a:r>
              <a:rPr lang="bg-BG" dirty="0"/>
              <a:t> </a:t>
            </a:r>
            <a:r>
              <a:rPr lang="en-US" dirty="0"/>
              <a:t>&lt;figure&gt;</a:t>
            </a:r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E0CB542-8B77-41D2-A642-E5C5EF9E4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861" y="2315051"/>
            <a:ext cx="2940163" cy="251198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745EC-1C4E-E760-FC55-D5E31B54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9986D2-BF9C-3C26-3E2E-78E9016C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58" y="2703622"/>
            <a:ext cx="6619748" cy="14507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38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E1C9475-F9C0-49A3-9FC9-1E1026A0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&lt;picture&gt;</a:t>
            </a:r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B00DEEC7-F757-4166-BFBE-3F67A99C3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349" y="2802487"/>
            <a:ext cx="1667190" cy="1667190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D8A6889E-7263-4F4E-851B-B16F295D9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766" y="2802487"/>
            <a:ext cx="2003339" cy="1667190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D47AA5A3-CA2D-4ED7-BC27-4D5D77BE7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268" y="4657416"/>
            <a:ext cx="2348997" cy="1396065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C8722C0-E563-DD24-819B-B11A9CF63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04236" y="4728308"/>
            <a:ext cx="6182588" cy="1467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7B236F-2634-3427-F835-5088B3D75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36" y="1779566"/>
            <a:ext cx="5639726" cy="28242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617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4E22-B431-AF23-49E7-D7E62174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Favicon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A19E-40BC-3F5B-67B4-E89509B04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A small icon that identifies a website in the browser.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It is most commonly displayed: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dirty="0"/>
              <a:t> </a:t>
            </a:r>
            <a:r>
              <a:rPr lang="en-US" dirty="0"/>
              <a:t>in the browser tab next to the page title;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 the bookmarks list;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 the browser history;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 site shortcuts on the browser's home screen.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26F39-C4A4-7FC0-62A7-37BE392D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615" y="4715479"/>
            <a:ext cx="3258005" cy="5715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41AE2-D7DE-CADE-19A3-8731C8BCC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4201533"/>
            <a:ext cx="7042700" cy="15994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4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C09B-3D9B-042E-9D0D-778A760B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an external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AAB51-B44D-BA3A-96DC-3CCCA3349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&lt;object&gt;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7259C-CDBB-7E1D-4133-07499171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0" y="4329587"/>
            <a:ext cx="8049748" cy="685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085C4-A714-78B8-0BFB-41B1B17D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64" y="1869085"/>
            <a:ext cx="3278659" cy="21941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B9A5E-6B26-72F8-7A00-CD8B0A6B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556" y="1869085"/>
            <a:ext cx="2998056" cy="2264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AE397F-5FDE-D9B7-28D8-508EC8280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0" y="5099340"/>
            <a:ext cx="9826534" cy="11965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5258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6342</TotalTime>
  <Words>617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Retrospect</vt:lpstr>
      <vt:lpstr>Hyperlinks and images</vt:lpstr>
      <vt:lpstr>Hyperlinks</vt:lpstr>
      <vt:lpstr>Hyperlinks - element &lt;a&gt;</vt:lpstr>
      <vt:lpstr>Types of hyperlinks</vt:lpstr>
      <vt:lpstr>Types of hyperlinks</vt:lpstr>
      <vt:lpstr>Image hyperlink</vt:lpstr>
      <vt:lpstr>Some attributes</vt:lpstr>
      <vt:lpstr>Specifying a path in a hyperlink</vt:lpstr>
      <vt:lpstr>Navigation</vt:lpstr>
      <vt:lpstr>Image formats supported by browsers</vt:lpstr>
      <vt:lpstr>Image – element &lt;img /&gt;</vt:lpstr>
      <vt:lpstr>Some attributes</vt:lpstr>
      <vt:lpstr>Element &lt;figure&gt;</vt:lpstr>
      <vt:lpstr>Element &lt;picture&gt;</vt:lpstr>
      <vt:lpstr>Favicon</vt:lpstr>
      <vt:lpstr>Embedding an external component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83</cp:revision>
  <dcterms:created xsi:type="dcterms:W3CDTF">2021-10-10T20:39:25Z</dcterms:created>
  <dcterms:modified xsi:type="dcterms:W3CDTF">2026-10-10T08:46:01Z</dcterms:modified>
</cp:coreProperties>
</file>