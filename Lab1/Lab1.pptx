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7" r:id="rId1"/>
  </p:sldMasterIdLst>
  <p:sldIdLst>
    <p:sldId id="276" r:id="rId2"/>
    <p:sldId id="277" r:id="rId3"/>
    <p:sldId id="278" r:id="rId4"/>
    <p:sldId id="279" r:id="rId5"/>
    <p:sldId id="280" r:id="rId6"/>
    <p:sldId id="281" r:id="rId7"/>
    <p:sldId id="282" r:id="rId8"/>
    <p:sldId id="283" r:id="rId9"/>
    <p:sldId id="284" r:id="rId10"/>
    <p:sldId id="285" r:id="rId11"/>
    <p:sldId id="286" r:id="rId12"/>
    <p:sldId id="287" r:id="rId13"/>
    <p:sldId id="288" r:id="rId14"/>
    <p:sldId id="289" r:id="rId15"/>
    <p:sldId id="290" r:id="rId16"/>
    <p:sldId id="274" r:id="rId17"/>
    <p:sldId id="291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A8B2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92" d="100"/>
          <a:sy n="92" d="100"/>
        </p:scale>
        <p:origin x="21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9/30/2026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91204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9/30/2026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56572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9/30/2026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48267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9/30/2026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64329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9/30/2026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00795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9/30/2026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72179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9/30/2026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41797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smtClean="0"/>
              <a:pPr/>
              <a:t>9/30/2026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54435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9/30/2026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86679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9/30/2026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95238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9/30/2026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17016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9/30/2026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45141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09" r:id="rId2"/>
    <p:sldLayoutId id="2147483710" r:id="rId3"/>
    <p:sldLayoutId id="2147483711" r:id="rId4"/>
    <p:sldLayoutId id="2147483712" r:id="rId5"/>
    <p:sldLayoutId id="2147483713" r:id="rId6"/>
    <p:sldLayoutId id="2147483714" r:id="rId7"/>
    <p:sldLayoutId id="2147483715" r:id="rId8"/>
    <p:sldLayoutId id="2147483716" r:id="rId9"/>
    <p:sldLayoutId id="2147483717" r:id="rId10"/>
    <p:sldLayoutId id="2147483718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1.tu-varna.bg/tu-varna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CE5D2575-1D13-442E-9A0C-619CCB0E158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Introduction to HTML. Basic tags</a:t>
            </a:r>
            <a:endParaRPr lang="bg-BG" dirty="0"/>
          </a:p>
        </p:txBody>
      </p:sp>
      <p:sp>
        <p:nvSpPr>
          <p:cNvPr id="3" name="Подзаглавие 2">
            <a:extLst>
              <a:ext uri="{FF2B5EF4-FFF2-40B4-BE49-F238E27FC236}">
                <a16:creationId xmlns:a16="http://schemas.microsoft.com/office/drawing/2014/main" id="{09606A93-E13A-4F5E-B1AF-A04FB147D9E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Exercise</a:t>
            </a:r>
            <a:r>
              <a:rPr lang="bg-BG" dirty="0"/>
              <a:t> 1</a:t>
            </a:r>
          </a:p>
        </p:txBody>
      </p:sp>
    </p:spTree>
    <p:extLst>
      <p:ext uri="{BB962C8B-B14F-4D97-AF65-F5344CB8AC3E}">
        <p14:creationId xmlns:p14="http://schemas.microsoft.com/office/powerpoint/2010/main" val="12704475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AA1DC3E5-9FA7-4DB3-97C1-04A90507CF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HTML</a:t>
            </a:r>
            <a:endParaRPr lang="bg-BG" sz="3600" dirty="0"/>
          </a:p>
        </p:txBody>
      </p:sp>
      <p:sp>
        <p:nvSpPr>
          <p:cNvPr id="3" name="Контейнер за съдържание 2">
            <a:extLst>
              <a:ext uri="{FF2B5EF4-FFF2-40B4-BE49-F238E27FC236}">
                <a16:creationId xmlns:a16="http://schemas.microsoft.com/office/drawing/2014/main" id="{7AF4D9B7-EFD3-422E-B0DD-F0E967B476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bg-BG" dirty="0"/>
              <a:t> </a:t>
            </a:r>
            <a:r>
              <a:rPr lang="en-US" dirty="0"/>
              <a:t>Hyper Text Markup Language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 A standard markup language for creating HTML pages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 Describes the structure of a web page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 Consists of multiple elements that "tell" the browser how to display the content</a:t>
            </a:r>
            <a:r>
              <a:rPr lang="bg-BG" dirty="0"/>
              <a:t> </a:t>
            </a:r>
            <a:endParaRPr lang="en-US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 Example</a:t>
            </a:r>
            <a:r>
              <a:rPr lang="bg-BG" dirty="0"/>
              <a:t>: </a:t>
            </a:r>
            <a:r>
              <a:rPr lang="en-US" dirty="0">
                <a:hlinkClick r:id="rId2"/>
              </a:rPr>
              <a:t>website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8979728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9FCE86EE-B697-40E4-8758-EF5684F4E2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Creation of HTML pages</a:t>
            </a:r>
            <a:endParaRPr lang="bg-BG" dirty="0"/>
          </a:p>
        </p:txBody>
      </p:sp>
      <p:sp>
        <p:nvSpPr>
          <p:cNvPr id="3" name="Контейнер за съдържание 2">
            <a:extLst>
              <a:ext uri="{FF2B5EF4-FFF2-40B4-BE49-F238E27FC236}">
                <a16:creationId xmlns:a16="http://schemas.microsoft.com/office/drawing/2014/main" id="{D5B03EA1-1669-44D0-99D6-D582119DA2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bg-BG" sz="2400" dirty="0">
                <a:solidFill>
                  <a:srgbClr val="000000"/>
                </a:solidFill>
                <a:latin typeface="SPFBFR+Palatino-Roman"/>
              </a:rPr>
              <a:t> </a:t>
            </a:r>
            <a:r>
              <a:rPr lang="en-US" sz="2400" dirty="0"/>
              <a:t>Text editor (</a:t>
            </a:r>
            <a:r>
              <a:rPr lang="en-US" sz="2400" dirty="0" err="1"/>
              <a:t>eg</a:t>
            </a:r>
            <a:r>
              <a:rPr lang="en-US" sz="2400" dirty="0"/>
              <a:t> Notepad)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bg-BG" sz="2400" dirty="0">
                <a:solidFill>
                  <a:srgbClr val="000000"/>
                </a:solidFill>
                <a:latin typeface="SPFBFR+Palatino-Roman"/>
              </a:rPr>
              <a:t> </a:t>
            </a:r>
            <a:r>
              <a:rPr lang="en-US" sz="2400" dirty="0"/>
              <a:t>Other editors </a:t>
            </a:r>
            <a:r>
              <a:rPr lang="bg-BG" sz="2400" dirty="0">
                <a:solidFill>
                  <a:srgbClr val="000000"/>
                </a:solidFill>
                <a:latin typeface="SPFBFR+Palatino-Roman"/>
              </a:rPr>
              <a:t>(</a:t>
            </a:r>
            <a:r>
              <a:rPr lang="en-US" sz="2400" dirty="0">
                <a:solidFill>
                  <a:srgbClr val="000000"/>
                </a:solidFill>
                <a:latin typeface="SPFBFR+Palatino-Roman"/>
              </a:rPr>
              <a:t>Notepad++, </a:t>
            </a:r>
            <a:r>
              <a:rPr lang="en-US" sz="2400" dirty="0" err="1">
                <a:solidFill>
                  <a:srgbClr val="000000"/>
                </a:solidFill>
                <a:latin typeface="SPFBFR+Palatino-Roman"/>
              </a:rPr>
              <a:t>SublimeText</a:t>
            </a:r>
            <a:r>
              <a:rPr lang="en-US" sz="2400" dirty="0">
                <a:solidFill>
                  <a:srgbClr val="000000"/>
                </a:solidFill>
                <a:latin typeface="SPFBFR+Palatino-Roman"/>
              </a:rPr>
              <a:t>, </a:t>
            </a:r>
            <a:r>
              <a:rPr lang="en-US" sz="2400" dirty="0" err="1">
                <a:solidFill>
                  <a:srgbClr val="000000"/>
                </a:solidFill>
                <a:latin typeface="SPFBFR+Palatino-Roman"/>
              </a:rPr>
              <a:t>CuteHTML</a:t>
            </a:r>
            <a:r>
              <a:rPr lang="bg-BG" sz="2400" dirty="0">
                <a:solidFill>
                  <a:srgbClr val="000000"/>
                </a:solidFill>
                <a:latin typeface="SPFBFR+Palatino-Roman"/>
              </a:rPr>
              <a:t>…</a:t>
            </a:r>
            <a:r>
              <a:rPr lang="en-US" sz="2400" dirty="0">
                <a:solidFill>
                  <a:srgbClr val="000000"/>
                </a:solidFill>
                <a:latin typeface="SPFBFR+Palatino-Roman"/>
              </a:rPr>
              <a:t>)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bg-BG" sz="2400" b="0" i="0" u="none" strike="noStrike" baseline="0" dirty="0">
                <a:solidFill>
                  <a:srgbClr val="000000"/>
                </a:solidFill>
                <a:latin typeface="SPFBFR+Palatino-Roman"/>
              </a:rPr>
              <a:t> 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SPFBFR+Palatino-Roman"/>
              </a:rPr>
              <a:t>WYSIWYG 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GXCEQR+Times-Roman"/>
              </a:rPr>
              <a:t>editors </a:t>
            </a:r>
            <a:r>
              <a:rPr lang="en-US" sz="2400" dirty="0">
                <a:solidFill>
                  <a:srgbClr val="000000"/>
                </a:solidFill>
                <a:latin typeface="SPFBFR+Palatino-Roman"/>
              </a:rPr>
              <a:t>(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SPFBFR+Palatino-Roman"/>
              </a:rPr>
              <a:t>Adobe Dreamweaver, Microsoft Visual Studio</a:t>
            </a:r>
            <a:r>
              <a:rPr lang="bg-BG" sz="2400" b="0" i="0" u="none" strike="noStrike" baseline="0" dirty="0">
                <a:solidFill>
                  <a:srgbClr val="000000"/>
                </a:solidFill>
                <a:latin typeface="SPFBFR+Palatino-Roman"/>
              </a:rPr>
              <a:t>…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SPFBFR+Palatino-Roman"/>
              </a:rPr>
              <a:t>) 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bg-BG" sz="2400" dirty="0">
                <a:solidFill>
                  <a:srgbClr val="C00000"/>
                </a:solidFill>
                <a:latin typeface="SPFBFR+Palatino-Roman"/>
              </a:rPr>
              <a:t> </a:t>
            </a:r>
            <a:r>
              <a:rPr lang="en-US" sz="2400" dirty="0"/>
              <a:t>You are free to work with the editor of your choice. In the lab – VS Code.</a:t>
            </a:r>
            <a:endParaRPr lang="bg-BG" sz="2400" dirty="0">
              <a:solidFill>
                <a:srgbClr val="C00000"/>
              </a:solidFill>
              <a:latin typeface="SPFBFR+Palatino-Roman"/>
            </a:endParaRPr>
          </a:p>
        </p:txBody>
      </p:sp>
    </p:spTree>
    <p:extLst>
      <p:ext uri="{BB962C8B-B14F-4D97-AF65-F5344CB8AC3E}">
        <p14:creationId xmlns:p14="http://schemas.microsoft.com/office/powerpoint/2010/main" val="9227896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F0ECA7D2-4110-4B33-802A-71CBFB736F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HTML elements</a:t>
            </a:r>
            <a:endParaRPr lang="bg-BG" sz="3600" dirty="0"/>
          </a:p>
        </p:txBody>
      </p:sp>
      <p:sp>
        <p:nvSpPr>
          <p:cNvPr id="3" name="Контейнер за съдържание 2">
            <a:extLst>
              <a:ext uri="{FF2B5EF4-FFF2-40B4-BE49-F238E27FC236}">
                <a16:creationId xmlns:a16="http://schemas.microsoft.com/office/drawing/2014/main" id="{B7173364-9D26-4389-8A2D-902C3B052B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bg-BG" dirty="0"/>
              <a:t> </a:t>
            </a:r>
            <a:r>
              <a:rPr lang="en-US" dirty="0"/>
              <a:t>Every page consists of HTML elements</a:t>
            </a:r>
            <a:endParaRPr lang="bg-BG" dirty="0"/>
          </a:p>
          <a:p>
            <a:pPr>
              <a:buFont typeface="Wingdings" panose="05000000000000000000" pitchFamily="2" charset="2"/>
              <a:buChar char="q"/>
            </a:pPr>
            <a:r>
              <a:rPr lang="bg-BG" dirty="0"/>
              <a:t> </a:t>
            </a:r>
            <a:r>
              <a:rPr lang="en-US" dirty="0"/>
              <a:t>Structure</a:t>
            </a:r>
            <a:r>
              <a:rPr lang="bg-BG" dirty="0"/>
              <a:t>:</a:t>
            </a:r>
          </a:p>
          <a:p>
            <a:pPr marL="0" indent="0" algn="ctr">
              <a:buNone/>
            </a:pPr>
            <a:r>
              <a:rPr lang="en-US" sz="2800" b="1" dirty="0">
                <a:solidFill>
                  <a:srgbClr val="C00000"/>
                </a:solidFill>
              </a:rPr>
              <a:t>&lt;tag&gt; Element content</a:t>
            </a:r>
            <a:r>
              <a:rPr lang="bg-BG" sz="2800" b="1" dirty="0">
                <a:solidFill>
                  <a:srgbClr val="C00000"/>
                </a:solidFill>
              </a:rPr>
              <a:t> </a:t>
            </a:r>
            <a:r>
              <a:rPr lang="en-US" sz="2800" b="1" dirty="0">
                <a:solidFill>
                  <a:srgbClr val="C00000"/>
                </a:solidFill>
              </a:rPr>
              <a:t>&lt;</a:t>
            </a:r>
            <a:r>
              <a:rPr lang="bg-BG" sz="2800" b="1" dirty="0">
                <a:solidFill>
                  <a:srgbClr val="C00000"/>
                </a:solidFill>
              </a:rPr>
              <a:t>/</a:t>
            </a:r>
            <a:r>
              <a:rPr lang="en-US" sz="2800" b="1" dirty="0">
                <a:solidFill>
                  <a:srgbClr val="C00000"/>
                </a:solidFill>
              </a:rPr>
              <a:t>tag&gt; </a:t>
            </a:r>
            <a:endParaRPr lang="bg-BG" sz="2800" b="1" dirty="0">
              <a:solidFill>
                <a:srgbClr val="C00000"/>
              </a:solidFill>
            </a:endParaRPr>
          </a:p>
          <a:p>
            <a:pPr marL="0" indent="0" algn="ctr">
              <a:buNone/>
            </a:pPr>
            <a:r>
              <a:rPr lang="en-US" sz="1800" dirty="0"/>
              <a:t>&lt;tag&gt; - opening tag        &lt;/tag&gt; - closing tag</a:t>
            </a:r>
          </a:p>
          <a:p>
            <a:pPr marL="0" indent="0">
              <a:buNone/>
            </a:pPr>
            <a:r>
              <a:rPr lang="en-US" dirty="0"/>
              <a:t>Example</a:t>
            </a:r>
            <a:r>
              <a:rPr lang="bg-BG" dirty="0"/>
              <a:t>:  </a:t>
            </a:r>
            <a:r>
              <a:rPr lang="en-US" dirty="0"/>
              <a:t>&lt;p&gt; Aida Confectionery was established in 1992.</a:t>
            </a:r>
            <a:r>
              <a:rPr lang="ru-RU" dirty="0"/>
              <a:t> </a:t>
            </a:r>
            <a:r>
              <a:rPr lang="en-US" dirty="0"/>
              <a:t>&lt;/p&gt;</a:t>
            </a:r>
            <a:endParaRPr lang="bg-BG" dirty="0"/>
          </a:p>
          <a:p>
            <a:pPr>
              <a:buFont typeface="Wingdings" panose="05000000000000000000" pitchFamily="2" charset="2"/>
              <a:buChar char="q"/>
            </a:pPr>
            <a:r>
              <a:rPr lang="bg-BG" dirty="0"/>
              <a:t> </a:t>
            </a:r>
            <a:r>
              <a:rPr lang="en-US" dirty="0"/>
              <a:t>Empty element – ​​no content &lt;</a:t>
            </a:r>
            <a:r>
              <a:rPr lang="en-US" dirty="0" err="1"/>
              <a:t>hr</a:t>
            </a:r>
            <a:r>
              <a:rPr lang="en-US" dirty="0"/>
              <a:t> /&gt;, &lt;</a:t>
            </a:r>
            <a:r>
              <a:rPr lang="en-US" dirty="0" err="1"/>
              <a:t>br</a:t>
            </a:r>
            <a:r>
              <a:rPr lang="en-US" dirty="0"/>
              <a:t> /&gt;</a:t>
            </a:r>
            <a:endParaRPr lang="bg-BG" dirty="0"/>
          </a:p>
          <a:p>
            <a:pPr marL="0" indent="0">
              <a:buNone/>
            </a:pP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19806807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DE165705-984F-4B5C-B241-F8B91A0DA9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Attributes</a:t>
            </a:r>
            <a:endParaRPr lang="bg-BG" sz="3600" dirty="0"/>
          </a:p>
        </p:txBody>
      </p:sp>
      <p:sp>
        <p:nvSpPr>
          <p:cNvPr id="3" name="Контейнер за съдържание 2">
            <a:extLst>
              <a:ext uri="{FF2B5EF4-FFF2-40B4-BE49-F238E27FC236}">
                <a16:creationId xmlns:a16="http://schemas.microsoft.com/office/drawing/2014/main" id="{F002E80D-50D9-41D6-AE7C-3EB0D7C652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bg-BG" sz="3200" dirty="0"/>
              <a:t> </a:t>
            </a:r>
            <a:r>
              <a:rPr lang="en-US" sz="3200" dirty="0"/>
              <a:t>attribute=“value"</a:t>
            </a:r>
            <a:endParaRPr lang="bg-BG" sz="3200" dirty="0"/>
          </a:p>
          <a:p>
            <a:pPr marL="0" indent="0">
              <a:buNone/>
            </a:pPr>
            <a:endParaRPr lang="en-US" sz="700" dirty="0"/>
          </a:p>
          <a:p>
            <a:pPr lvl="1"/>
            <a:r>
              <a:rPr lang="en-US" sz="2200" dirty="0"/>
              <a:t>&lt;p </a:t>
            </a:r>
            <a:r>
              <a:rPr lang="en-US" sz="2200" dirty="0">
                <a:solidFill>
                  <a:srgbClr val="FF0000"/>
                </a:solidFill>
              </a:rPr>
              <a:t>align="justify"</a:t>
            </a:r>
            <a:r>
              <a:rPr lang="en-US" sz="2200" dirty="0"/>
              <a:t>&gt;</a:t>
            </a:r>
            <a:r>
              <a:rPr lang="ru-RU" sz="2200" dirty="0"/>
              <a:t> </a:t>
            </a:r>
            <a:r>
              <a:rPr lang="en-US" sz="2200" dirty="0"/>
              <a:t>Aida Confectionery was established in 1992.&lt;/p&gt;</a:t>
            </a:r>
          </a:p>
          <a:p>
            <a:pPr lvl="1"/>
            <a:r>
              <a:rPr lang="en-US" sz="2200" dirty="0"/>
              <a:t>&lt;</a:t>
            </a:r>
            <a:r>
              <a:rPr lang="en-US" sz="2200" dirty="0" err="1"/>
              <a:t>img</a:t>
            </a:r>
            <a:r>
              <a:rPr lang="en-US" sz="2200" dirty="0"/>
              <a:t> </a:t>
            </a:r>
            <a:r>
              <a:rPr lang="en-US" sz="2200" dirty="0" err="1">
                <a:solidFill>
                  <a:srgbClr val="5A8B25"/>
                </a:solidFill>
              </a:rPr>
              <a:t>src</a:t>
            </a:r>
            <a:r>
              <a:rPr lang="en-US" sz="2200" dirty="0">
                <a:solidFill>
                  <a:srgbClr val="5A8B25"/>
                </a:solidFill>
              </a:rPr>
              <a:t>="cat.jpg“ </a:t>
            </a:r>
            <a:r>
              <a:rPr lang="en-US" sz="2200" dirty="0"/>
              <a:t>alt=“Picture with cat” /&gt;</a:t>
            </a:r>
          </a:p>
          <a:p>
            <a:pPr lvl="1"/>
            <a:r>
              <a:rPr lang="en-US" sz="2200" dirty="0"/>
              <a:t>&lt;h</a:t>
            </a:r>
            <a:r>
              <a:rPr lang="bg-BG" sz="2200" dirty="0"/>
              <a:t>2</a:t>
            </a:r>
            <a:r>
              <a:rPr lang="en-US" sz="2200" dirty="0"/>
              <a:t> </a:t>
            </a:r>
            <a:r>
              <a:rPr lang="en-US" sz="2200" dirty="0">
                <a:solidFill>
                  <a:srgbClr val="5A8B25"/>
                </a:solidFill>
              </a:rPr>
              <a:t>class="</a:t>
            </a:r>
            <a:r>
              <a:rPr lang="en-US" sz="2200" dirty="0" err="1">
                <a:solidFill>
                  <a:srgbClr val="5A8B25"/>
                </a:solidFill>
              </a:rPr>
              <a:t>myclass</a:t>
            </a:r>
            <a:r>
              <a:rPr lang="en-US" sz="2200" dirty="0">
                <a:solidFill>
                  <a:srgbClr val="5A8B25"/>
                </a:solidFill>
              </a:rPr>
              <a:t>"</a:t>
            </a:r>
            <a:r>
              <a:rPr lang="en-US" sz="2200" dirty="0"/>
              <a:t>&gt;About us&lt;/h2&gt;</a:t>
            </a:r>
          </a:p>
          <a:p>
            <a:pPr lvl="1"/>
            <a:r>
              <a:rPr lang="en-US" sz="2200" dirty="0"/>
              <a:t>&lt;div </a:t>
            </a:r>
            <a:r>
              <a:rPr lang="en-US" sz="2200" dirty="0">
                <a:solidFill>
                  <a:srgbClr val="5A8B25"/>
                </a:solidFill>
              </a:rPr>
              <a:t>id="</a:t>
            </a:r>
            <a:r>
              <a:rPr lang="en-US" sz="2200" dirty="0" err="1">
                <a:solidFill>
                  <a:srgbClr val="5A8B25"/>
                </a:solidFill>
              </a:rPr>
              <a:t>someid</a:t>
            </a:r>
            <a:r>
              <a:rPr lang="en-US" sz="2200" dirty="0">
                <a:solidFill>
                  <a:srgbClr val="5A8B25"/>
                </a:solidFill>
              </a:rPr>
              <a:t>"</a:t>
            </a:r>
            <a:r>
              <a:rPr lang="en-US" sz="2200" dirty="0"/>
              <a:t>&gt;&lt;/div&gt;</a:t>
            </a:r>
          </a:p>
        </p:txBody>
      </p:sp>
    </p:spTree>
    <p:extLst>
      <p:ext uri="{BB962C8B-B14F-4D97-AF65-F5344CB8AC3E}">
        <p14:creationId xmlns:p14="http://schemas.microsoft.com/office/powerpoint/2010/main" val="23726594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1D186E-4DD4-1ABB-75CF-160D81FFF8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Structure of an </a:t>
            </a:r>
            <a:br>
              <a:rPr lang="en-US" dirty="0"/>
            </a:br>
            <a:r>
              <a:rPr lang="en-US" dirty="0"/>
              <a:t>HTML document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7CFADA-2402-3503-92EE-C0E25D06DB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Картина 4" descr="Картина, която съдържа текст&#10;&#10;Описанието е генерирано автоматично">
            <a:extLst>
              <a:ext uri="{FF2B5EF4-FFF2-40B4-BE49-F238E27FC236}">
                <a16:creationId xmlns:a16="http://schemas.microsoft.com/office/drawing/2014/main" id="{F288761B-EA14-1BB8-5BE9-5731595582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9026" y="286603"/>
            <a:ext cx="3833812" cy="5765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8682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05084986-980D-4A68-AC03-5586AE3CE3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Document type declaration</a:t>
            </a:r>
            <a:endParaRPr lang="bg-BG" dirty="0"/>
          </a:p>
        </p:txBody>
      </p:sp>
      <p:sp>
        <p:nvSpPr>
          <p:cNvPr id="3" name="Контейнер за съдържание 2">
            <a:extLst>
              <a:ext uri="{FF2B5EF4-FFF2-40B4-BE49-F238E27FC236}">
                <a16:creationId xmlns:a16="http://schemas.microsoft.com/office/drawing/2014/main" id="{8D3D3A73-A6CF-4EFD-951F-DD40DFE3CA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41119" y="2015732"/>
            <a:ext cx="9713735" cy="377546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bg-BG" dirty="0"/>
              <a:t> </a:t>
            </a:r>
            <a:r>
              <a:rPr lang="en-US" dirty="0"/>
              <a:t>HTML 5</a:t>
            </a:r>
            <a:r>
              <a:rPr lang="bg-BG" dirty="0"/>
              <a:t>: </a:t>
            </a:r>
          </a:p>
          <a:p>
            <a:pPr marL="0" indent="0">
              <a:buNone/>
            </a:pPr>
            <a:r>
              <a:rPr lang="en-US" dirty="0"/>
              <a:t>&lt;!DOCTYPE html&gt;</a:t>
            </a:r>
            <a:endParaRPr lang="bg-BG" dirty="0"/>
          </a:p>
          <a:p>
            <a:pPr>
              <a:buFont typeface="Wingdings" panose="05000000000000000000" pitchFamily="2" charset="2"/>
              <a:buChar char="q"/>
            </a:pPr>
            <a:r>
              <a:rPr lang="bg-BG" dirty="0"/>
              <a:t> </a:t>
            </a:r>
            <a:r>
              <a:rPr lang="en-US" dirty="0"/>
              <a:t>HTML </a:t>
            </a:r>
            <a:r>
              <a:rPr lang="bg-BG" dirty="0"/>
              <a:t>4.01: </a:t>
            </a:r>
          </a:p>
          <a:p>
            <a:pPr marL="0" indent="0">
              <a:buNone/>
            </a:pPr>
            <a:r>
              <a:rPr lang="en-US" sz="1800" dirty="0"/>
              <a:t> &lt;!DOCTYPE HTML PUBLIC "-//W3C//DTD HTML 4.01 Transitional//EN" "http://www.w3.org/TR/html4/loose.dtd"&gt;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bg-BG" dirty="0"/>
              <a:t> </a:t>
            </a:r>
            <a:r>
              <a:rPr lang="en-US" dirty="0"/>
              <a:t>XHTML 1.1:</a:t>
            </a:r>
            <a:endParaRPr lang="bg-BG" dirty="0"/>
          </a:p>
          <a:p>
            <a:pPr marL="0" indent="0">
              <a:buNone/>
            </a:pPr>
            <a:r>
              <a:rPr lang="en-US" dirty="0"/>
              <a:t> &lt;!DOCTYPE html PUBLIC "-//W3C//DTD XHTML 1.1//EN" "http://www.w3.org/TR/xhtml11/DTD/xhtml11.dtd"&gt;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9305627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0868BF6F-5B44-47C9-B82A-5B3E611B9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HEAD – metadata container</a:t>
            </a:r>
            <a:endParaRPr lang="bg-BG" dirty="0"/>
          </a:p>
        </p:txBody>
      </p:sp>
      <p:sp>
        <p:nvSpPr>
          <p:cNvPr id="3" name="Контейнер за съдържание 2">
            <a:extLst>
              <a:ext uri="{FF2B5EF4-FFF2-40B4-BE49-F238E27FC236}">
                <a16:creationId xmlns:a16="http://schemas.microsoft.com/office/drawing/2014/main" id="{1C53929F-5F96-49A9-99EE-4A8A6F4760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5107" y="2015732"/>
            <a:ext cx="10699747" cy="3450613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kumimoji="0" lang="bg-BG" altLang="bg-BG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&lt;</a:t>
            </a:r>
            <a:r>
              <a:rPr kumimoji="0" lang="bg-BG" altLang="bg-BG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meta</a:t>
            </a:r>
            <a:r>
              <a:rPr kumimoji="0" lang="bg-BG" altLang="bg-BG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</a:t>
            </a:r>
            <a:r>
              <a:rPr kumimoji="0" lang="bg-BG" altLang="bg-BG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charset</a:t>
            </a:r>
            <a:r>
              <a:rPr kumimoji="0" lang="bg-BG" altLang="bg-BG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="utf-8"&gt; </a:t>
            </a:r>
            <a:endParaRPr kumimoji="0" lang="en-US" altLang="bg-BG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kumimoji="0" lang="bg-BG" altLang="bg-BG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&lt;</a:t>
            </a:r>
            <a:r>
              <a:rPr kumimoji="0" lang="bg-BG" altLang="bg-BG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meta</a:t>
            </a:r>
            <a:r>
              <a:rPr kumimoji="0" lang="bg-BG" altLang="bg-BG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</a:t>
            </a:r>
            <a:r>
              <a:rPr kumimoji="0" lang="bg-BG" altLang="bg-BG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name</a:t>
            </a:r>
            <a:r>
              <a:rPr kumimoji="0" lang="bg-BG" altLang="bg-BG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="</a:t>
            </a:r>
            <a:r>
              <a:rPr kumimoji="0" lang="bg-BG" altLang="bg-BG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description</a:t>
            </a:r>
            <a:r>
              <a:rPr kumimoji="0" lang="bg-BG" altLang="bg-BG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" </a:t>
            </a:r>
            <a:r>
              <a:rPr kumimoji="0" lang="bg-BG" altLang="bg-BG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content</a:t>
            </a:r>
            <a:r>
              <a:rPr kumimoji="0" lang="bg-BG" altLang="bg-BG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="</a:t>
            </a:r>
            <a:r>
              <a:rPr lang="en-US" altLang="bg-BG" dirty="0">
                <a:latin typeface="Arial Unicode MS"/>
              </a:rPr>
              <a:t>Description of page content</a:t>
            </a:r>
            <a:r>
              <a:rPr kumimoji="0" lang="bg-BG" altLang="bg-BG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."&gt;</a:t>
            </a:r>
          </a:p>
          <a:p>
            <a:pPr>
              <a:buFont typeface="Wingdings" panose="05000000000000000000" pitchFamily="2" charset="2"/>
              <a:buChar char="q"/>
            </a:pPr>
            <a:r>
              <a:rPr kumimoji="0" lang="bg-BG" altLang="bg-BG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&lt;</a:t>
            </a:r>
            <a:r>
              <a:rPr kumimoji="0" lang="bg-BG" altLang="bg-BG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meta</a:t>
            </a:r>
            <a:r>
              <a:rPr kumimoji="0" lang="bg-BG" altLang="bg-BG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</a:t>
            </a:r>
            <a:r>
              <a:rPr kumimoji="0" lang="bg-BG" altLang="bg-BG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name</a:t>
            </a:r>
            <a:r>
              <a:rPr kumimoji="0" lang="bg-BG" altLang="bg-BG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="</a:t>
            </a:r>
            <a:r>
              <a:rPr kumimoji="0" lang="bg-BG" altLang="bg-BG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keywords</a:t>
            </a:r>
            <a:r>
              <a:rPr kumimoji="0" lang="bg-BG" altLang="bg-BG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" </a:t>
            </a:r>
            <a:r>
              <a:rPr kumimoji="0" lang="bg-BG" altLang="bg-BG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content</a:t>
            </a:r>
            <a:r>
              <a:rPr kumimoji="0" lang="bg-BG" altLang="bg-BG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="</a:t>
            </a:r>
            <a:r>
              <a:rPr kumimoji="0" lang="de-DE" altLang="bg-BG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keyword</a:t>
            </a:r>
            <a:r>
              <a:rPr kumimoji="0" lang="de-DE" altLang="bg-BG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1, </a:t>
            </a:r>
            <a:r>
              <a:rPr kumimoji="0" lang="de-DE" altLang="bg-BG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keyword</a:t>
            </a:r>
            <a:r>
              <a:rPr kumimoji="0" lang="de-DE" altLang="bg-BG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2, </a:t>
            </a:r>
            <a:r>
              <a:rPr kumimoji="0" lang="de-DE" altLang="bg-BG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keyword</a:t>
            </a:r>
            <a:r>
              <a:rPr kumimoji="0" lang="de-DE" altLang="bg-BG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3</a:t>
            </a:r>
            <a:r>
              <a:rPr kumimoji="0" lang="bg-BG" altLang="bg-BG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"&gt;</a:t>
            </a:r>
          </a:p>
          <a:p>
            <a:pPr>
              <a:buFont typeface="Wingdings" panose="05000000000000000000" pitchFamily="2" charset="2"/>
              <a:buChar char="q"/>
            </a:pPr>
            <a:r>
              <a:rPr kumimoji="0" lang="bg-BG" altLang="bg-BG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&lt;</a:t>
            </a:r>
            <a:r>
              <a:rPr kumimoji="0" lang="bg-BG" altLang="bg-BG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meta</a:t>
            </a:r>
            <a:r>
              <a:rPr kumimoji="0" lang="bg-BG" altLang="bg-BG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</a:t>
            </a:r>
            <a:r>
              <a:rPr kumimoji="0" lang="bg-BG" altLang="bg-BG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name</a:t>
            </a:r>
            <a:r>
              <a:rPr kumimoji="0" lang="bg-BG" altLang="bg-BG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="</a:t>
            </a:r>
            <a:r>
              <a:rPr kumimoji="0" lang="bg-BG" altLang="bg-BG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author</a:t>
            </a:r>
            <a:r>
              <a:rPr kumimoji="0" lang="bg-BG" altLang="bg-BG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" </a:t>
            </a:r>
            <a:r>
              <a:rPr kumimoji="0" lang="bg-BG" altLang="bg-BG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content</a:t>
            </a:r>
            <a:r>
              <a:rPr kumimoji="0" lang="bg-BG" altLang="bg-BG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="</a:t>
            </a:r>
            <a:r>
              <a:rPr kumimoji="0" lang="en-US" altLang="bg-BG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Donika Stoyanova</a:t>
            </a:r>
            <a:r>
              <a:rPr kumimoji="0" lang="bg-BG" altLang="bg-BG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"&gt;</a:t>
            </a:r>
            <a:r>
              <a:rPr kumimoji="0" lang="bg-BG" altLang="bg-BG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bg-BG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bg-BG" altLang="bg-BG" dirty="0">
                <a:latin typeface="Arial Unicode MS"/>
              </a:rPr>
              <a:t> </a:t>
            </a:r>
            <a:r>
              <a:rPr lang="en-US" altLang="bg-BG" dirty="0">
                <a:latin typeface="Arial Unicode MS"/>
              </a:rPr>
              <a:t>&lt;meta name="viewport" content="width=device-width, initial-scale=1.0"&gt;</a:t>
            </a:r>
            <a:endParaRPr lang="bg-BG" altLang="bg-BG" dirty="0">
              <a:latin typeface="Arial Unicode MS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bg-BG" altLang="bg-BG" sz="2100" dirty="0">
                <a:latin typeface="Arial Unicode MS"/>
              </a:rPr>
              <a:t> &lt;</a:t>
            </a:r>
            <a:r>
              <a:rPr lang="bg-BG" altLang="bg-BG" sz="2100" dirty="0" err="1">
                <a:latin typeface="Arial Unicode MS"/>
              </a:rPr>
              <a:t>title</a:t>
            </a:r>
            <a:r>
              <a:rPr lang="bg-BG" altLang="bg-BG" sz="2100" dirty="0">
                <a:latin typeface="Arial Unicode MS"/>
              </a:rPr>
              <a:t>&gt;</a:t>
            </a:r>
            <a:r>
              <a:rPr lang="en-US" sz="2400" dirty="0"/>
              <a:t> The title of the page </a:t>
            </a:r>
            <a:r>
              <a:rPr lang="bg-BG" altLang="bg-BG" sz="2100" dirty="0">
                <a:latin typeface="Arial Unicode MS"/>
              </a:rPr>
              <a:t>&lt;/</a:t>
            </a:r>
            <a:r>
              <a:rPr lang="bg-BG" altLang="bg-BG" sz="2100" dirty="0" err="1">
                <a:latin typeface="Arial Unicode MS"/>
              </a:rPr>
              <a:t>title</a:t>
            </a:r>
            <a:r>
              <a:rPr lang="bg-BG" altLang="bg-BG" sz="2100" dirty="0">
                <a:latin typeface="Arial Unicode MS"/>
              </a:rPr>
              <a:t>&gt; </a:t>
            </a:r>
            <a:endParaRPr lang="en-US" altLang="bg-BG" sz="2100" dirty="0">
              <a:latin typeface="Arial Unicode MS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bg-BG" altLang="bg-BG" sz="2100" dirty="0">
                <a:latin typeface="Arial Unicode MS"/>
              </a:rPr>
              <a:t> </a:t>
            </a:r>
            <a:r>
              <a:rPr lang="en-US" altLang="bg-BG" sz="2100" dirty="0">
                <a:latin typeface="Arial Unicode MS"/>
              </a:rPr>
              <a:t>&lt;link </a:t>
            </a:r>
            <a:r>
              <a:rPr lang="en-US" altLang="bg-BG" sz="2100" dirty="0" err="1">
                <a:latin typeface="Arial Unicode MS"/>
              </a:rPr>
              <a:t>rel</a:t>
            </a:r>
            <a:r>
              <a:rPr lang="en-US" altLang="bg-BG" sz="2100" dirty="0">
                <a:latin typeface="Arial Unicode MS"/>
              </a:rPr>
              <a:t>="stylesheet" </a:t>
            </a:r>
            <a:r>
              <a:rPr lang="en-US" altLang="bg-BG" sz="2100" dirty="0" err="1">
                <a:latin typeface="Arial Unicode MS"/>
              </a:rPr>
              <a:t>href</a:t>
            </a:r>
            <a:r>
              <a:rPr lang="en-US" altLang="bg-BG" sz="2100" dirty="0">
                <a:latin typeface="Arial Unicode MS"/>
              </a:rPr>
              <a:t>="style.css"&gt;</a:t>
            </a:r>
            <a:endParaRPr lang="bg-BG" altLang="bg-BG" sz="2100" dirty="0">
              <a:latin typeface="Arial Unicode MS"/>
            </a:endParaRPr>
          </a:p>
          <a:p>
            <a:endParaRPr lang="bg-BG" altLang="bg-BG" sz="2100" dirty="0">
              <a:latin typeface="Arial Unicode MS"/>
            </a:endParaRPr>
          </a:p>
          <a:p>
            <a:endParaRPr kumimoji="0" lang="bg-BG" altLang="bg-BG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kumimoji="0" lang="en-US" altLang="bg-BG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30584962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0868BF6F-5B44-47C9-B82A-5B3E611B9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Basic tags (exercise 1)</a:t>
            </a:r>
            <a:endParaRPr lang="bg-BG" sz="4000" dirty="0"/>
          </a:p>
        </p:txBody>
      </p:sp>
      <p:sp>
        <p:nvSpPr>
          <p:cNvPr id="3" name="Контейнер за съдържание 2">
            <a:extLst>
              <a:ext uri="{FF2B5EF4-FFF2-40B4-BE49-F238E27FC236}">
                <a16:creationId xmlns:a16="http://schemas.microsoft.com/office/drawing/2014/main" id="{1C53929F-5F96-49A9-99EE-4A8A6F4760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3808019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bg-BG" dirty="0"/>
              <a:t> </a:t>
            </a:r>
            <a:r>
              <a:rPr lang="en-US" dirty="0"/>
              <a:t>&lt;p&gt;My paragraph&lt;/p&gt; - paragraph</a:t>
            </a:r>
            <a:r>
              <a:rPr lang="bg-BG" dirty="0"/>
              <a:t> 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bg-BG" dirty="0"/>
              <a:t> </a:t>
            </a:r>
            <a:r>
              <a:rPr lang="en-US" dirty="0"/>
              <a:t>&lt;h1&gt;&lt;/h1&gt;, &lt;h2&gt;&lt;/h2&gt;…&lt;h6&gt;&lt;/h6&gt; - headings</a:t>
            </a:r>
            <a:r>
              <a:rPr lang="bg-BG" dirty="0"/>
              <a:t> 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bg-BG" dirty="0"/>
              <a:t> </a:t>
            </a:r>
            <a:r>
              <a:rPr lang="en-US" dirty="0"/>
              <a:t>&lt;</a:t>
            </a:r>
            <a:r>
              <a:rPr lang="en-US" dirty="0" err="1"/>
              <a:t>br</a:t>
            </a:r>
            <a:r>
              <a:rPr lang="en-US" dirty="0"/>
              <a:t> /&gt; - single line break</a:t>
            </a:r>
            <a:endParaRPr lang="bg-BG" dirty="0"/>
          </a:p>
          <a:p>
            <a:pPr>
              <a:buFont typeface="Wingdings" panose="05000000000000000000" pitchFamily="2" charset="2"/>
              <a:buChar char="q"/>
            </a:pPr>
            <a:r>
              <a:rPr lang="bg-BG" dirty="0"/>
              <a:t> </a:t>
            </a:r>
            <a:r>
              <a:rPr lang="en-US" dirty="0"/>
              <a:t>&lt;</a:t>
            </a:r>
            <a:r>
              <a:rPr lang="en-US" dirty="0" err="1"/>
              <a:t>hr</a:t>
            </a:r>
            <a:r>
              <a:rPr lang="bg-BG" dirty="0"/>
              <a:t> </a:t>
            </a:r>
            <a:r>
              <a:rPr lang="en-US" dirty="0"/>
              <a:t>/&gt; - horizontal line</a:t>
            </a:r>
            <a:endParaRPr lang="bg-BG" dirty="0"/>
          </a:p>
          <a:p>
            <a:pPr>
              <a:buFont typeface="Wingdings" panose="05000000000000000000" pitchFamily="2" charset="2"/>
              <a:buChar char="q"/>
            </a:pPr>
            <a:r>
              <a:rPr lang="bg-BG" dirty="0"/>
              <a:t> </a:t>
            </a:r>
            <a:r>
              <a:rPr lang="en-US" dirty="0"/>
              <a:t>&lt;div&gt;&lt;/div&gt; - division or a section in an HTML document</a:t>
            </a:r>
            <a:endParaRPr lang="bg-BG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 &lt;span&gt;&lt;/span&gt; - inline container</a:t>
            </a:r>
            <a:endParaRPr lang="bg-BG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&lt;q&gt;&lt;/q&gt;, &lt;blockquote&gt;&lt;/blockquote&gt; - quote</a:t>
            </a:r>
            <a:endParaRPr lang="bg-BG" dirty="0"/>
          </a:p>
          <a:p>
            <a:pPr>
              <a:buFont typeface="Wingdings" panose="05000000000000000000" pitchFamily="2" charset="2"/>
              <a:buChar char="q"/>
            </a:pPr>
            <a:r>
              <a:rPr lang="bg-BG" dirty="0"/>
              <a:t> </a:t>
            </a:r>
            <a:r>
              <a:rPr lang="en-US" dirty="0"/>
              <a:t>&lt;pre&gt;&lt;/pre&gt; - preformatted text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bg-BG" dirty="0"/>
              <a:t> </a:t>
            </a:r>
            <a:r>
              <a:rPr lang="en-US" dirty="0"/>
              <a:t>&lt;!-- Comment --&gt;</a:t>
            </a:r>
          </a:p>
          <a:p>
            <a:endParaRPr lang="bg-BG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730C73B-5528-3805-6220-A4F3475633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2902" y="342430"/>
            <a:ext cx="2202217" cy="5761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23198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0868BF6F-5B44-47C9-B82A-5B3E611B9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Formatting tags –</a:t>
            </a:r>
            <a:br>
              <a:rPr lang="en-US" dirty="0"/>
            </a:br>
            <a:r>
              <a:rPr lang="en-US" dirty="0"/>
              <a:t>semantic usage</a:t>
            </a:r>
            <a:endParaRPr lang="bg-BG" dirty="0"/>
          </a:p>
        </p:txBody>
      </p:sp>
      <p:sp>
        <p:nvSpPr>
          <p:cNvPr id="3" name="Контейнер за съдържание 2">
            <a:extLst>
              <a:ext uri="{FF2B5EF4-FFF2-40B4-BE49-F238E27FC236}">
                <a16:creationId xmlns:a16="http://schemas.microsoft.com/office/drawing/2014/main" id="{1C53929F-5F96-49A9-99EE-4A8A6F4760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384353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&lt;b&gt;&lt;/b&gt;, &lt;strong&gt;&lt;/strong&gt; - bold</a:t>
            </a:r>
          </a:p>
          <a:p>
            <a:r>
              <a:rPr lang="en-US" dirty="0"/>
              <a:t>&lt;</a:t>
            </a:r>
            <a:r>
              <a:rPr lang="en-US" dirty="0" err="1"/>
              <a:t>i</a:t>
            </a:r>
            <a:r>
              <a:rPr lang="en-US" dirty="0"/>
              <a:t>&gt;&lt;/</a:t>
            </a:r>
            <a:r>
              <a:rPr lang="en-US" dirty="0" err="1"/>
              <a:t>i</a:t>
            </a:r>
            <a:r>
              <a:rPr lang="en-US" dirty="0"/>
              <a:t>&gt;, &lt;</a:t>
            </a:r>
            <a:r>
              <a:rPr lang="en-US" dirty="0" err="1"/>
              <a:t>em</a:t>
            </a:r>
            <a:r>
              <a:rPr lang="en-US" dirty="0"/>
              <a:t>&gt;&lt;/</a:t>
            </a:r>
            <a:r>
              <a:rPr lang="en-US" dirty="0" err="1"/>
              <a:t>em</a:t>
            </a:r>
            <a:r>
              <a:rPr lang="en-US" dirty="0"/>
              <a:t>&gt; - italic</a:t>
            </a:r>
          </a:p>
          <a:p>
            <a:r>
              <a:rPr lang="en-US" dirty="0"/>
              <a:t>&lt;u&gt;&lt;/u&gt; - underline</a:t>
            </a:r>
          </a:p>
          <a:p>
            <a:r>
              <a:rPr lang="en-US" dirty="0"/>
              <a:t>&lt;sup&gt;&lt;/sup&gt; - superscript</a:t>
            </a:r>
          </a:p>
          <a:p>
            <a:r>
              <a:rPr lang="en-US" dirty="0"/>
              <a:t>&lt;sub&gt;&lt;/sub&gt; - subscript</a:t>
            </a:r>
          </a:p>
          <a:p>
            <a:r>
              <a:rPr lang="en-US" dirty="0"/>
              <a:t>&lt;mark&gt;&lt;/mark&gt; - marked text</a:t>
            </a:r>
          </a:p>
          <a:p>
            <a:r>
              <a:rPr lang="en-US" dirty="0"/>
              <a:t>&lt;small&gt;&lt;/small&gt; - smaller text</a:t>
            </a:r>
          </a:p>
          <a:p>
            <a:r>
              <a:rPr lang="en-US" dirty="0"/>
              <a:t>&lt;del&gt;&lt;/del&gt; - deleted text</a:t>
            </a:r>
          </a:p>
          <a:p>
            <a:r>
              <a:rPr lang="en-US" dirty="0"/>
              <a:t>&lt;ins&gt;&lt;/ins&gt; - inserted text</a:t>
            </a:r>
          </a:p>
          <a:p>
            <a:endParaRPr lang="bg-BG" dirty="0"/>
          </a:p>
          <a:p>
            <a:endParaRPr lang="bg-BG" dirty="0"/>
          </a:p>
          <a:p>
            <a:endParaRPr lang="bg-BG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EE9F78A-EFA8-48A9-B1EB-6C5F9E06C0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23165"/>
            <a:ext cx="18473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bg-BG" altLang="bg-BG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bg-BG" altLang="bg-BG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74BD151-38D5-90CA-8A3E-12641B3076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5923" y="844341"/>
            <a:ext cx="3238801" cy="5169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30721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0868BF6F-5B44-47C9-B82A-5B3E611B9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Formatting attributes</a:t>
            </a:r>
            <a:r>
              <a:rPr lang="bg-BG" dirty="0"/>
              <a:t> </a:t>
            </a:r>
            <a:r>
              <a:rPr lang="en-US" dirty="0">
                <a:solidFill>
                  <a:srgbClr val="FF0000"/>
                </a:solidFill>
              </a:rPr>
              <a:t>! CSS</a:t>
            </a:r>
            <a:endParaRPr lang="bg-BG" dirty="0"/>
          </a:p>
        </p:txBody>
      </p:sp>
      <p:sp>
        <p:nvSpPr>
          <p:cNvPr id="3" name="Контейнер за съдържание 2">
            <a:extLst>
              <a:ext uri="{FF2B5EF4-FFF2-40B4-BE49-F238E27FC236}">
                <a16:creationId xmlns:a16="http://schemas.microsoft.com/office/drawing/2014/main" id="{1C53929F-5F96-49A9-99EE-4A8A6F4760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bg-BG" dirty="0"/>
              <a:t> </a:t>
            </a:r>
            <a:r>
              <a:rPr lang="en-US" dirty="0"/>
              <a:t>align=“left | right | center | justify”</a:t>
            </a:r>
          </a:p>
          <a:p>
            <a:pPr marL="0" indent="0">
              <a:buNone/>
            </a:pPr>
            <a:r>
              <a:rPr lang="bg-BG" dirty="0"/>
              <a:t>		</a:t>
            </a:r>
            <a:r>
              <a:rPr lang="en-US" dirty="0"/>
              <a:t>&lt;p align=“left”&gt;Paragraph&lt;/p&gt;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bg-BG" dirty="0"/>
              <a:t> </a:t>
            </a:r>
            <a:r>
              <a:rPr lang="en-US" dirty="0"/>
              <a:t>width=“50% | 200px”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bg-BG" dirty="0"/>
              <a:t> </a:t>
            </a:r>
            <a:r>
              <a:rPr lang="en-US" dirty="0"/>
              <a:t>size=“2”</a:t>
            </a:r>
          </a:p>
          <a:p>
            <a:pPr marL="0" indent="0">
              <a:buNone/>
            </a:pPr>
            <a:r>
              <a:rPr lang="bg-BG" dirty="0"/>
              <a:t>		</a:t>
            </a:r>
            <a:r>
              <a:rPr lang="en-US" dirty="0"/>
              <a:t>&lt;</a:t>
            </a:r>
            <a:r>
              <a:rPr lang="en-US" dirty="0" err="1"/>
              <a:t>hr</a:t>
            </a:r>
            <a:r>
              <a:rPr lang="en-US" dirty="0"/>
              <a:t> width=“50% size=“2” color=“red”/&gt;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bg-BG" dirty="0"/>
              <a:t> </a:t>
            </a:r>
            <a:r>
              <a:rPr lang="en-US" dirty="0" err="1"/>
              <a:t>bgcolor</a:t>
            </a:r>
            <a:r>
              <a:rPr lang="en-US" dirty="0"/>
              <a:t>=“white | #FFFFFF | </a:t>
            </a:r>
            <a:r>
              <a:rPr lang="en-US" dirty="0" err="1"/>
              <a:t>rgb</a:t>
            </a:r>
            <a:r>
              <a:rPr lang="en-US" dirty="0"/>
              <a:t>(255,255,255)”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bg-BG" dirty="0"/>
              <a:t> </a:t>
            </a:r>
            <a:r>
              <a:rPr lang="en-US" dirty="0"/>
              <a:t>background=“myimage.jpg“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bg-BG" dirty="0"/>
          </a:p>
          <a:p>
            <a:endParaRPr lang="bg-BG" dirty="0"/>
          </a:p>
          <a:p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32965258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778A5465-97FC-406F-A2F5-6DE4A1CC52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  <a:latin typeface="Calibri Light (Headings)"/>
              </a:rPr>
              <a:t>Lists in HTML</a:t>
            </a:r>
            <a:endParaRPr lang="bg-BG" dirty="0">
              <a:solidFill>
                <a:schemeClr val="tx1"/>
              </a:solidFill>
              <a:latin typeface="Calibri Light (Headings)"/>
            </a:endParaRPr>
          </a:p>
        </p:txBody>
      </p:sp>
      <p:sp>
        <p:nvSpPr>
          <p:cNvPr id="3" name="Контейнер за съдържание 2">
            <a:extLst>
              <a:ext uri="{FF2B5EF4-FFF2-40B4-BE49-F238E27FC236}">
                <a16:creationId xmlns:a16="http://schemas.microsoft.com/office/drawing/2014/main" id="{813D9B76-B3E0-45EA-97D2-CE0560D6FE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229852"/>
            <a:ext cx="10058400" cy="3639241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  <a:buFont typeface="Wingdings" panose="05000000000000000000" pitchFamily="2" charset="2"/>
              <a:buChar char="q"/>
            </a:pPr>
            <a:r>
              <a:rPr lang="bg-BG" sz="2400" dirty="0"/>
              <a:t> </a:t>
            </a:r>
            <a:r>
              <a:rPr lang="en-US" sz="2400" dirty="0"/>
              <a:t>Allow web developers to group a set of related items into lists</a:t>
            </a:r>
            <a:endParaRPr lang="bg-BG" sz="2400" dirty="0"/>
          </a:p>
        </p:txBody>
      </p:sp>
      <p:pic>
        <p:nvPicPr>
          <p:cNvPr id="4" name="Content Placeholder 5">
            <a:extLst>
              <a:ext uri="{FF2B5EF4-FFF2-40B4-BE49-F238E27FC236}">
                <a16:creationId xmlns:a16="http://schemas.microsoft.com/office/drawing/2014/main" id="{7C180AD6-5431-A377-3971-10471D3E84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2697" y="3028814"/>
            <a:ext cx="2173384" cy="2147355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78CADF8-F599-CD66-FAE9-09108CD4ED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1767" y="3028814"/>
            <a:ext cx="2167959" cy="2223906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084272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FB5083AB-C809-4417-A4CA-6F4D0FC29A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Unordered lists</a:t>
            </a:r>
            <a:endParaRPr lang="bg-BG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07BE4CEF-5401-CB1B-A051-A9BBAFE46D6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626874" y="2998335"/>
            <a:ext cx="2065766" cy="2041026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60E723A-25B8-A4B1-AF6A-CED1D2B7A6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6131" y="2122566"/>
            <a:ext cx="4130027" cy="3251298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008261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FB5083AB-C809-4417-A4CA-6F4D0FC29A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Ordered lists</a:t>
            </a:r>
            <a:endParaRPr lang="bg-BG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93EBD80-8319-7477-4018-2C4F413811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1060" y="1891971"/>
            <a:ext cx="4873376" cy="3458976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CECEB1C-24EC-E45C-DB2C-3DE95A970688}"/>
              </a:ext>
            </a:extLst>
          </p:cNvPr>
          <p:cNvSpPr>
            <a:spLocks noGrp="1"/>
          </p:cNvSpPr>
          <p:nvPr>
            <p:ph idx="1"/>
          </p:nvPr>
        </p:nvSpPr>
        <p:spPr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4BC1694-DAA7-B64F-C197-DA3CC1409C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9909" y="2116244"/>
            <a:ext cx="2559462" cy="2625512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880289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0DFEE591-C3DD-48D6-A76E-FF3556C58F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Ordered lists - attributes</a:t>
            </a:r>
            <a:endParaRPr lang="bg-BG" dirty="0"/>
          </a:p>
        </p:txBody>
      </p:sp>
      <p:sp>
        <p:nvSpPr>
          <p:cNvPr id="3" name="Контейнер за съдържание 2">
            <a:extLst>
              <a:ext uri="{FF2B5EF4-FFF2-40B4-BE49-F238E27FC236}">
                <a16:creationId xmlns:a16="http://schemas.microsoft.com/office/drawing/2014/main" id="{A718E9ED-CF89-4C2A-BBE5-4A0E9BA078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2400" dirty="0"/>
              <a:t> reversed="true“ – reverses the order of the enumeration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/>
              <a:t> start=“12” – sets the number from which to start counting</a:t>
            </a:r>
            <a:endParaRPr lang="bg-BG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25FCDC9-5D88-C5C0-294E-C8B55D3E91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1627" y="3142688"/>
            <a:ext cx="5835666" cy="2726405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4B6234E-2964-353C-6B89-3ADE687B25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4033" y="3579725"/>
            <a:ext cx="2176010" cy="1880356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290090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81853DD8-D51A-403E-820D-3787566598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01360" y="707475"/>
            <a:ext cx="4912209" cy="1312001"/>
          </a:xfrm>
        </p:spPr>
        <p:txBody>
          <a:bodyPr anchor="t">
            <a:normAutofit/>
          </a:bodyPr>
          <a:lstStyle/>
          <a:p>
            <a:pPr marL="91440" indent="-91440">
              <a:buClr>
                <a:schemeClr val="accent1"/>
              </a:buClr>
              <a:buSzPct val="100000"/>
              <a:buFont typeface="Wingdings" panose="05000000000000000000" pitchFamily="2" charset="2"/>
              <a:buChar char="q"/>
            </a:pPr>
            <a:r>
              <a:rPr lang="en-US" dirty="0"/>
              <a:t> Nested lists</a:t>
            </a:r>
            <a:endParaRPr lang="bg-BG" dirty="0"/>
          </a:p>
        </p:txBody>
      </p:sp>
      <p:sp>
        <p:nvSpPr>
          <p:cNvPr id="3" name="Контейнер за съдържание 2">
            <a:extLst>
              <a:ext uri="{FF2B5EF4-FFF2-40B4-BE49-F238E27FC236}">
                <a16:creationId xmlns:a16="http://schemas.microsoft.com/office/drawing/2014/main" id="{F99D6080-7B09-4609-9DBE-AE1A21C8C5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54138" y="2273608"/>
            <a:ext cx="3159432" cy="3940925"/>
          </a:xfrm>
        </p:spPr>
        <p:txBody>
          <a:bodyPr>
            <a:normAutofit/>
          </a:bodyPr>
          <a:lstStyle/>
          <a:p>
            <a:endParaRPr lang="bg-BG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E58DF09-DD7A-F7F2-A891-EEBFBF212A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2491" y="456777"/>
            <a:ext cx="3830164" cy="559023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B664DD0-8D9A-35E1-61DA-52935B0D21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1009" y="2019476"/>
            <a:ext cx="2750192" cy="345501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205569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65944F65-C8D6-4AFB-A15D-8E444ECC31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Definition lists</a:t>
            </a:r>
            <a:endParaRPr lang="bg-BG" dirty="0"/>
          </a:p>
        </p:txBody>
      </p:sp>
      <p:sp>
        <p:nvSpPr>
          <p:cNvPr id="3" name="Контейнер за съдържание 2">
            <a:extLst>
              <a:ext uri="{FF2B5EF4-FFF2-40B4-BE49-F238E27FC236}">
                <a16:creationId xmlns:a16="http://schemas.microsoft.com/office/drawing/2014/main" id="{6F4C0406-2A06-49E0-BC17-09D6D1E45D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bg-BG" sz="2400" dirty="0"/>
              <a:t> </a:t>
            </a:r>
            <a:r>
              <a:rPr lang="en-US" sz="2400" dirty="0"/>
              <a:t>Used to display definitions of terms</a:t>
            </a:r>
            <a:endParaRPr lang="bg-BG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A9EDC35-F44B-9EBD-71E4-F888A64778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7881" y="2371498"/>
            <a:ext cx="6383010" cy="2308748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D93F4D2-C0B3-042D-2685-A43EE6927B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845" y="4788620"/>
            <a:ext cx="9810875" cy="1509366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74848902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5678</TotalTime>
  <Words>727</Words>
  <Application>Microsoft Office PowerPoint</Application>
  <PresentationFormat>Widescreen</PresentationFormat>
  <Paragraphs>87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6" baseType="lpstr">
      <vt:lpstr>Arial</vt:lpstr>
      <vt:lpstr>Arial Unicode MS</vt:lpstr>
      <vt:lpstr>Calibri</vt:lpstr>
      <vt:lpstr>Calibri Light</vt:lpstr>
      <vt:lpstr>Calibri Light (Headings)</vt:lpstr>
      <vt:lpstr>GXCEQR+Times-Roman</vt:lpstr>
      <vt:lpstr>SPFBFR+Palatino-Roman</vt:lpstr>
      <vt:lpstr>Wingdings</vt:lpstr>
      <vt:lpstr>Retrospect</vt:lpstr>
      <vt:lpstr>Introduction to HTML. Basic tags</vt:lpstr>
      <vt:lpstr>HTML</vt:lpstr>
      <vt:lpstr>Creation of HTML pages</vt:lpstr>
      <vt:lpstr>HTML elements</vt:lpstr>
      <vt:lpstr>Attributes</vt:lpstr>
      <vt:lpstr>Structure of an  HTML document</vt:lpstr>
      <vt:lpstr>Document type declaration</vt:lpstr>
      <vt:lpstr>HEAD – metadata container</vt:lpstr>
      <vt:lpstr>Basic tags (exercise 1)</vt:lpstr>
      <vt:lpstr>Formatting tags – semantic usage</vt:lpstr>
      <vt:lpstr>Formatting attributes ! CSS</vt:lpstr>
      <vt:lpstr>Lists in HTML</vt:lpstr>
      <vt:lpstr>Unordered lists</vt:lpstr>
      <vt:lpstr>Ordered lists</vt:lpstr>
      <vt:lpstr>Ordered lists - attributes</vt:lpstr>
      <vt:lpstr> Nested lists</vt:lpstr>
      <vt:lpstr>Definition lists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на PowerPoint</dc:title>
  <dc:creator>ас. Доника Георгиева Стоянова</dc:creator>
  <cp:lastModifiedBy>гл. ас. д-р Доника Георгиева Стоянова</cp:lastModifiedBy>
  <cp:revision>51</cp:revision>
  <dcterms:created xsi:type="dcterms:W3CDTF">2021-10-03T10:40:05Z</dcterms:created>
  <dcterms:modified xsi:type="dcterms:W3CDTF">2026-09-30T20:42:58Z</dcterms:modified>
</cp:coreProperties>
</file>