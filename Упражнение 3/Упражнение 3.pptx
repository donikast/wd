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3" r:id="rId3"/>
    <p:sldId id="264" r:id="rId4"/>
    <p:sldId id="265" r:id="rId5"/>
    <p:sldId id="282" r:id="rId6"/>
    <p:sldId id="268" r:id="rId7"/>
    <p:sldId id="269" r:id="rId8"/>
    <p:sldId id="257" r:id="rId9"/>
    <p:sldId id="258" r:id="rId10"/>
    <p:sldId id="260" r:id="rId11"/>
    <p:sldId id="261" r:id="rId12"/>
    <p:sldId id="284" r:id="rId13"/>
    <p:sldId id="262" r:id="rId14"/>
    <p:sldId id="285" r:id="rId15"/>
    <p:sldId id="274" r:id="rId16"/>
    <p:sldId id="286" r:id="rId17"/>
    <p:sldId id="287" r:id="rId18"/>
    <p:sldId id="288" r:id="rId19"/>
    <p:sldId id="289" r:id="rId20"/>
    <p:sldId id="270" r:id="rId21"/>
    <p:sldId id="276" r:id="rId22"/>
    <p:sldId id="271" r:id="rId23"/>
    <p:sldId id="272" r:id="rId24"/>
    <p:sldId id="275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>
      <p:cViewPr varScale="1">
        <p:scale>
          <a:sx n="92" d="100"/>
          <a:sy n="92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98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19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0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0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5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75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2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9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0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7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8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1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4C8976-17C4-45EC-947C-021A5037E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758952"/>
            <a:ext cx="10058400" cy="3566160"/>
          </a:xfrm>
        </p:spPr>
        <p:txBody>
          <a:bodyPr>
            <a:normAutofit/>
          </a:bodyPr>
          <a:lstStyle/>
          <a:p>
            <a:r>
              <a:rPr lang="bg-BG" dirty="0">
                <a:solidFill>
                  <a:schemeClr val="tx2"/>
                </a:solidFill>
              </a:rPr>
              <a:t>Таблици. </a:t>
            </a:r>
            <a:r>
              <a:rPr lang="en-US" dirty="0">
                <a:solidFill>
                  <a:schemeClr val="tx2"/>
                </a:solidFill>
              </a:rPr>
              <a:t>HTML </a:t>
            </a:r>
            <a:r>
              <a:rPr lang="bg-BG" dirty="0">
                <a:solidFill>
                  <a:schemeClr val="tx2"/>
                </a:solidFill>
              </a:rPr>
              <a:t>форми.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C5D0EA47-5C8B-452D-B0C3-4037FFDD6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Упражнение 3</a:t>
            </a:r>
          </a:p>
        </p:txBody>
      </p:sp>
    </p:spTree>
    <p:extLst>
      <p:ext uri="{BB962C8B-B14F-4D97-AF65-F5344CB8AC3E}">
        <p14:creationId xmlns:p14="http://schemas.microsoft.com/office/powerpoint/2010/main" val="150437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FFABF1-3431-449C-8212-BE6CFC17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</a:t>
            </a:r>
            <a:r>
              <a:rPr lang="en-US" dirty="0"/>
              <a:t> </a:t>
            </a:r>
            <a:r>
              <a:rPr lang="bg-BG" dirty="0"/>
              <a:t>–</a:t>
            </a:r>
            <a:r>
              <a:rPr lang="en-US" dirty="0"/>
              <a:t> </a:t>
            </a:r>
            <a:r>
              <a:rPr lang="bg-BG" dirty="0"/>
              <a:t>основни елементи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0871706-B1D3-4A9D-90CD-03A91ED5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ru-RU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table</a:t>
            </a:r>
            <a:r>
              <a:rPr lang="ru-RU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ru-RU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table</a:t>
            </a:r>
            <a:r>
              <a:rPr lang="ru-RU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 контейнер на </a:t>
            </a:r>
            <a:r>
              <a:rPr lang="ru-RU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таблицата</a:t>
            </a:r>
            <a:r>
              <a:rPr lang="ru-RU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; </a:t>
            </a:r>
          </a:p>
          <a:p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</a:rPr>
              <a:t>&lt;tr&gt; &lt;/tr&gt; -</a:t>
            </a:r>
            <a:r>
              <a:rPr lang="bg-BG" sz="3600" dirty="0">
                <a:solidFill>
                  <a:srgbClr val="000000"/>
                </a:solidFill>
                <a:latin typeface="Calibri" panose="020F0502020204030204" pitchFamily="34" charset="0"/>
              </a:rPr>
              <a:t> ред от таблица; </a:t>
            </a:r>
            <a:endParaRPr lang="bg-BG" sz="4000" dirty="0"/>
          </a:p>
          <a:p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US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</a:t>
            </a: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</a:t>
            </a: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</a:t>
            </a:r>
            <a:r>
              <a:rPr lang="bg-BG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заглавна клетка; </a:t>
            </a:r>
          </a:p>
          <a:p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&lt;td&gt; &lt;/td&gt; -</a:t>
            </a:r>
            <a:r>
              <a:rPr lang="bg-BG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клетка за данни.</a:t>
            </a:r>
          </a:p>
        </p:txBody>
      </p:sp>
    </p:spTree>
    <p:extLst>
      <p:ext uri="{BB962C8B-B14F-4D97-AF65-F5344CB8AC3E}">
        <p14:creationId xmlns:p14="http://schemas.microsoft.com/office/powerpoint/2010/main" val="92019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1EE27-879D-4DCE-86D2-3004AC53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Таблица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A6107DB-A28D-44CF-AD68-B479F34C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96" y="2580131"/>
            <a:ext cx="3519376" cy="220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D4280-EE71-AAB2-AA99-373826C5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02BB7-057C-35C6-F56F-E3DFEB84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28" y="1845734"/>
            <a:ext cx="3440854" cy="42410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33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69DFC71-421B-40B5-8968-D653A9AA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</a:t>
            </a:r>
            <a:r>
              <a:rPr lang="en-US" dirty="0"/>
              <a:t> </a:t>
            </a:r>
            <a:r>
              <a:rPr lang="bg-BG" dirty="0"/>
              <a:t>– семантични елементи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0985877-4F56-475E-AC2B-B6C7C47C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ru-RU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caption</a:t>
            </a:r>
            <a:r>
              <a:rPr lang="ru-RU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ru-RU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caption</a:t>
            </a:r>
            <a:r>
              <a:rPr lang="ru-RU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</a:t>
            </a:r>
            <a:r>
              <a:rPr lang="ru-RU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дефинира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заглавие на таблица;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thead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thead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 </a:t>
            </a:r>
            <a:r>
              <a:rPr lang="bg-BG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групира съдържанието на </a:t>
            </a:r>
            <a:r>
              <a:rPr lang="bg-BG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хедърите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tfoot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tfoot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 </a:t>
            </a:r>
            <a:r>
              <a:rPr lang="bg-BG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групира съдържанието на </a:t>
            </a:r>
            <a:r>
              <a:rPr lang="bg-BG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футърите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tbody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tbody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</a:t>
            </a:r>
            <a:r>
              <a:rPr lang="bg-BG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групира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bg-BG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съдържанието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bg-BG" sz="28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на таблицата;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800" i="0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800" i="0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en-US" sz="2800" i="0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colgroup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colgroup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- </a:t>
            </a:r>
            <a:r>
              <a:rPr lang="bg-BG" sz="2800" dirty="0">
                <a:solidFill>
                  <a:srgbClr val="000000"/>
                </a:solidFill>
                <a:latin typeface="Calibri" panose="020F0502020204030204" pitchFamily="34" charset="0"/>
              </a:rPr>
              <a:t>задава група от една или повече колони за нуждите на форматирането на таблицата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&lt;col&gt; - </a:t>
            </a:r>
            <a:r>
              <a:rPr lang="bg-BG" sz="2800" dirty="0">
                <a:solidFill>
                  <a:srgbClr val="000000"/>
                </a:solidFill>
                <a:latin typeface="Calibri" panose="020F0502020204030204" pitchFamily="34" charset="0"/>
              </a:rPr>
              <a:t>задава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</a:rPr>
              <a:t> формат на всяка колона в </a:t>
            </a:r>
            <a:r>
              <a:rPr lang="ru-RU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елемента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ru-RU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colgroup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</a:rPr>
              <a:t>&gt;</a:t>
            </a:r>
            <a:endParaRPr lang="bg-BG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bg-BG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4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BFD57-4B22-2149-2304-EDCD2F5F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9A4E-BE1B-FBE3-312A-1CCECA31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BDA66D2-13CB-47DC-BA2B-0572FC68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090" y="3422022"/>
            <a:ext cx="2410765" cy="2447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151BA-85E1-8DAA-F3E0-6FE3BF43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69" y="1700566"/>
            <a:ext cx="3787631" cy="42461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CAA67-A47C-236B-56F3-530A1D3F3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061" y="1733412"/>
            <a:ext cx="3196067" cy="16886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37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889D0F-0C4F-4687-942F-15BDE098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 – </a:t>
            </a:r>
            <a:r>
              <a:rPr lang="en-US" dirty="0" err="1"/>
              <a:t>colspan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/>
              <a:t>rowspan</a:t>
            </a:r>
            <a:endParaRPr lang="bg-BG" dirty="0"/>
          </a:p>
        </p:txBody>
      </p:sp>
      <p:sp>
        <p:nvSpPr>
          <p:cNvPr id="11" name="Контейнер за съдържание 10">
            <a:extLst>
              <a:ext uri="{FF2B5EF4-FFF2-40B4-BE49-F238E27FC236}">
                <a16:creationId xmlns:a16="http://schemas.microsoft.com/office/drawing/2014/main" id="{BDB58C84-A28E-4773-908F-DA46B42E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A70CC0EF-8C75-4FF1-B23E-0C646E8D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45" y="2845561"/>
            <a:ext cx="4658375" cy="18100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B60983-4E39-5FDC-C74A-F14776A2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21934"/>
            <a:ext cx="4729408" cy="42599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225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889D0F-0C4F-4687-942F-15BDE098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 – </a:t>
            </a:r>
            <a:r>
              <a:rPr lang="en-US" dirty="0" err="1"/>
              <a:t>colspan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/>
              <a:t>rowspan</a:t>
            </a:r>
            <a:endParaRPr lang="bg-BG" dirty="0"/>
          </a:p>
        </p:txBody>
      </p:sp>
      <p:sp>
        <p:nvSpPr>
          <p:cNvPr id="10" name="Контейнер за съдържание 9">
            <a:extLst>
              <a:ext uri="{FF2B5EF4-FFF2-40B4-BE49-F238E27FC236}">
                <a16:creationId xmlns:a16="http://schemas.microsoft.com/office/drawing/2014/main" id="{00618096-E198-4FB1-B58D-83FF525A8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72B5ED8F-ED08-48ED-A3D9-0B5007CC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229" y="2990725"/>
            <a:ext cx="4801270" cy="1790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CDF48E-7B2B-F72B-DDE7-810F5BE5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17" y="1836590"/>
            <a:ext cx="3658574" cy="44405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723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6360DD7-3C80-4701-81C6-8B778F20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HTML</a:t>
            </a:r>
            <a:r>
              <a:rPr lang="bg-BG" dirty="0">
                <a:solidFill>
                  <a:schemeClr val="tx1"/>
                </a:solidFill>
              </a:rPr>
              <a:t> форми</a:t>
            </a:r>
          </a:p>
        </p:txBody>
      </p:sp>
      <p:sp>
        <p:nvSpPr>
          <p:cNvPr id="7" name="Контейнер за съдържание 6">
            <a:extLst>
              <a:ext uri="{FF2B5EF4-FFF2-40B4-BE49-F238E27FC236}">
                <a16:creationId xmlns:a16="http://schemas.microsoft.com/office/drawing/2014/main" id="{69ACABF8-78B5-4BFE-9999-7978E850B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800" dirty="0"/>
              <a:t>П</a:t>
            </a:r>
            <a:r>
              <a:rPr lang="ru-RU" sz="2800" dirty="0" err="1"/>
              <a:t>озволяват</a:t>
            </a:r>
            <a:r>
              <a:rPr lang="ru-RU" sz="2800" dirty="0"/>
              <a:t> </a:t>
            </a:r>
            <a:r>
              <a:rPr lang="ru-RU" sz="2800" dirty="0" err="1"/>
              <a:t>въвеждане</a:t>
            </a:r>
            <a:r>
              <a:rPr lang="ru-RU" sz="2800" dirty="0"/>
              <a:t> на </a:t>
            </a:r>
            <a:r>
              <a:rPr lang="ru-RU" sz="2800" dirty="0" err="1"/>
              <a:t>данни</a:t>
            </a:r>
            <a:r>
              <a:rPr lang="ru-RU" sz="2800" dirty="0"/>
              <a:t> от потребителя, </a:t>
            </a:r>
            <a:r>
              <a:rPr lang="ru-RU" sz="2800" dirty="0" err="1"/>
              <a:t>които</a:t>
            </a:r>
            <a:r>
              <a:rPr lang="ru-RU" sz="2800" dirty="0"/>
              <a:t> се </a:t>
            </a:r>
            <a:r>
              <a:rPr lang="ru-RU" sz="2800" dirty="0" err="1"/>
              <a:t>изпращат</a:t>
            </a:r>
            <a:r>
              <a:rPr lang="ru-RU" sz="2800" dirty="0"/>
              <a:t> </a:t>
            </a:r>
            <a:r>
              <a:rPr lang="ru-RU" sz="2800" dirty="0" err="1"/>
              <a:t>към</a:t>
            </a:r>
            <a:r>
              <a:rPr lang="ru-RU" sz="2800" dirty="0"/>
              <a:t> </a:t>
            </a:r>
            <a:r>
              <a:rPr lang="ru-RU" sz="2800" dirty="0" err="1"/>
              <a:t>сървъра</a:t>
            </a:r>
            <a:r>
              <a:rPr lang="ru-RU" sz="2800" dirty="0"/>
              <a:t> за обработка</a:t>
            </a:r>
            <a:endParaRPr lang="bg-BG" sz="2800" dirty="0"/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7782BB26-E257-4145-AFC5-CE531D3F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26" y="3226676"/>
            <a:ext cx="5850590" cy="257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9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05F3069-A96A-4334-B6F0-B01176A5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</a:t>
            </a:r>
            <a:r>
              <a:rPr lang="en-US" dirty="0"/>
              <a:t> &lt;form&gt;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A6B9E5C-D6FC-4D54-8360-7C3E719B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5" y="2015732"/>
            <a:ext cx="10193720" cy="345061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&lt;form </a:t>
            </a:r>
            <a:r>
              <a:rPr lang="en-US" sz="2800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="php/</a:t>
            </a:r>
            <a:r>
              <a:rPr lang="en-US" sz="2800" dirty="0" err="1"/>
              <a:t>action.php</a:t>
            </a:r>
            <a:r>
              <a:rPr lang="en-US" sz="2800" dirty="0"/>
              <a:t>" </a:t>
            </a:r>
            <a:r>
              <a:rPr lang="en-US" sz="2800" dirty="0">
                <a:solidFill>
                  <a:srgbClr val="FF0000"/>
                </a:solidFill>
              </a:rPr>
              <a:t>method</a:t>
            </a:r>
            <a:r>
              <a:rPr lang="en-US" sz="2800" dirty="0"/>
              <a:t>="post"&gt;</a:t>
            </a:r>
          </a:p>
          <a:p>
            <a:pPr marL="0" indent="0">
              <a:buNone/>
            </a:pPr>
            <a:r>
              <a:rPr lang="en-US" sz="2800" dirty="0"/>
              <a:t>	……</a:t>
            </a:r>
          </a:p>
          <a:p>
            <a:pPr marL="0" indent="0">
              <a:buNone/>
            </a:pPr>
            <a:r>
              <a:rPr lang="en-US" sz="2800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4027167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91BE045-EDD3-4E35-9113-2533C2C8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 </a:t>
            </a:r>
            <a:r>
              <a:rPr lang="en-US" dirty="0"/>
              <a:t>HTML </a:t>
            </a:r>
            <a:r>
              <a:rPr lang="bg-BG" dirty="0"/>
              <a:t>форма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08BCD01-6A11-4DD7-8CF7-2B9A28C89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&lt;</a:t>
            </a:r>
            <a:r>
              <a:rPr lang="en-US" sz="2800" dirty="0">
                <a:solidFill>
                  <a:srgbClr val="0070C0"/>
                </a:solidFill>
              </a:rPr>
              <a:t>input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type</a:t>
            </a:r>
            <a:r>
              <a:rPr lang="en-US" sz="2800" dirty="0"/>
              <a:t>="text" </a:t>
            </a:r>
            <a:r>
              <a:rPr lang="en-US" sz="2800" dirty="0">
                <a:solidFill>
                  <a:srgbClr val="FF0000"/>
                </a:solidFill>
              </a:rPr>
              <a:t>name</a:t>
            </a:r>
            <a:r>
              <a:rPr lang="en-US" sz="2800" dirty="0"/>
              <a:t>="</a:t>
            </a:r>
            <a:r>
              <a:rPr lang="en-US" sz="2800" dirty="0" err="1"/>
              <a:t>somename</a:t>
            </a:r>
            <a:r>
              <a:rPr lang="en-US" sz="2800" dirty="0"/>
              <a:t>“ value=“</a:t>
            </a:r>
            <a:r>
              <a:rPr lang="en-US" sz="2800" dirty="0" err="1"/>
              <a:t>somevalue</a:t>
            </a:r>
            <a:r>
              <a:rPr lang="en-US" sz="2800" dirty="0"/>
              <a:t>”/&gt;</a:t>
            </a:r>
            <a:endParaRPr lang="bg-BG" sz="28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F8FF59C-C3AB-4CBA-8423-C0D38E92A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241" y="2900888"/>
            <a:ext cx="6467758" cy="281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1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DA83B2-7FE8-4319-A558-C096B3FD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&lt;input type=“…“ 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B923620-E836-4CA7-B37E-68F524BC2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text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password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email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 err="1"/>
              <a:t>tel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 err="1"/>
              <a:t>url</a:t>
            </a:r>
            <a:endParaRPr lang="bg-BG" sz="36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1056748-05CD-468D-B612-5B3FD422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778" y="1496736"/>
            <a:ext cx="5628564" cy="43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0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2564FFC-52ED-47F6-A926-067FC656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&lt;input type=“…“ 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4EB4578-2F07-4957-8139-AA145A999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DDA44-82B6-798C-26E7-4C0DE207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48" y="358793"/>
            <a:ext cx="5713105" cy="58690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45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56FCFA2-9346-43C2-B901-921CDFA5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Checkbox</a:t>
            </a:r>
            <a:endParaRPr lang="bg-BG" sz="66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01C6C08-FA7C-4FCB-8D0C-41574E7F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70" y="392563"/>
            <a:ext cx="5763429" cy="118126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6C89B-D560-2BD0-AA6F-5F275528C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9047"/>
            <a:ext cx="10058400" cy="40233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9FEB0-A802-C005-29EB-83083F3E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500330"/>
            <a:ext cx="10095286" cy="18573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912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B9BBE83-B9E4-4125-BE11-6A4CB2BC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button</a:t>
            </a:r>
            <a:endParaRPr lang="bg-BG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58101A1E-39F4-4004-99D6-BBC5D5C4E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044" y="518361"/>
            <a:ext cx="2257740" cy="10097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ED227-A3BC-6364-D794-B47D1ABD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2FD40-4562-38BB-CB24-B7FA70A7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940" y="2414446"/>
            <a:ext cx="9812119" cy="20291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69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EA054C-CE97-4994-A3CE-60F9D44B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&lt;input type=“…“ /&gt;</a:t>
            </a:r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FCF023E3-87EC-4215-91CB-A0CC6676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341" y="2770798"/>
            <a:ext cx="2049149" cy="1316403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C7AFCBCF-0E2C-4956-9F1C-DF22453E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93" y="4252157"/>
            <a:ext cx="2391342" cy="617987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38B798B-E5A4-441B-83D5-0C6FBCE4E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893" y="2770798"/>
            <a:ext cx="851355" cy="455775"/>
          </a:xfrm>
          <a:prstGeom prst="rect">
            <a:avLst/>
          </a:pr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411CCDC-012C-4BDC-AF22-725C93511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554" y="2150067"/>
            <a:ext cx="2391342" cy="455775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B767BC4-67CB-4F03-A9C4-B65B0095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4500" y="2035739"/>
            <a:ext cx="6125500" cy="345061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bg-BG" dirty="0"/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084188A9-F8AE-4116-B319-F8200CC09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715" y="5123014"/>
            <a:ext cx="2781688" cy="390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040AD4-395E-36E9-B2AB-4D1649F27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38" y="2325756"/>
            <a:ext cx="6521235" cy="32859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504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55968CF-3D92-4C60-95DC-25AA03EB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&lt;input type=“…“ /&gt;</a:t>
            </a:r>
            <a:endParaRPr lang="bg-BG" dirty="0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58F0399E-736C-4627-BC91-8DEC00459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9978" y="1999397"/>
            <a:ext cx="2500905" cy="2640232"/>
          </a:xfr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E6F62A2C-E3D5-40F7-AF85-6F34F8235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527" y="3688795"/>
            <a:ext cx="1638654" cy="367646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5499977C-9C56-4DB9-ADF5-4A6258A85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355" y="5013016"/>
            <a:ext cx="2553056" cy="666843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2DCA2301-A8C9-4A7C-82DD-3876E7BF0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195" y="2864362"/>
            <a:ext cx="1743318" cy="609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58E67C-0808-568A-5670-243610501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64" y="2308052"/>
            <a:ext cx="6375588" cy="2920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248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A0CF896-4A4D-42C9-BC78-DBE60A4E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Бутони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F6236D1C-73A5-474D-912D-2B8B218F2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544" y="580753"/>
            <a:ext cx="5439534" cy="90500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43DD27-D0EB-B99A-7C3A-8FB02CE4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86" y="2484877"/>
            <a:ext cx="6867099" cy="14207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0E026D-ACFC-9BD8-729B-A4506799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86" y="4260418"/>
            <a:ext cx="6582694" cy="13527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3423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4B6D75-0FFE-475D-BC2E-733185AD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491" y="804519"/>
            <a:ext cx="9603275" cy="1049235"/>
          </a:xfrm>
        </p:spPr>
        <p:txBody>
          <a:bodyPr/>
          <a:lstStyle/>
          <a:p>
            <a:r>
              <a:rPr lang="en-US" dirty="0" err="1"/>
              <a:t>Textarea</a:t>
            </a:r>
            <a:endParaRPr lang="bg-BG" dirty="0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5EE01CC2-4FD4-458E-AACA-620D2F4CE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4714" y="651136"/>
            <a:ext cx="4440799" cy="189464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FD913E-4AA2-3971-63B0-21FCA9B8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88" y="3211081"/>
            <a:ext cx="7456623" cy="13733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2877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F9EBC97-8FAF-4C91-9573-0D605363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5876BD9-6200-4527-8C20-02842A8B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FC98A1AD-616F-4D69-ABDB-D24178BA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36" y="130598"/>
            <a:ext cx="5137207" cy="1601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EFA24B-98C4-3552-6284-509B43E0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803" y="2499912"/>
            <a:ext cx="7955758" cy="28236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4828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AC40191-2331-45B1-8B9A-13ECAAF5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  <a:endParaRPr lang="bg-BG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7B4F4EE2-109E-400D-AB44-8E2037D47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62" y="159238"/>
            <a:ext cx="5137207" cy="1601208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1D517DAB-6B9E-4102-9210-6D0A9CF2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621" y="454946"/>
            <a:ext cx="2257740" cy="10097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D234A-72C6-46A7-14D9-8466FF8CF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DCD80-713B-D407-C4AA-54AD2D946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943" y="2484672"/>
            <a:ext cx="7649643" cy="27150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65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23B692F-AE4F-4D72-AA99-A5E8560D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 - форма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F4F8DC8-6BE0-4FAF-B480-87337511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action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method</a:t>
            </a:r>
            <a:endParaRPr lang="bg-BG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 err="1"/>
              <a:t>enctype</a:t>
            </a:r>
            <a:endParaRPr lang="en-US" sz="24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ffectLst/>
              </a:rPr>
              <a:t>&lt;form action="</a:t>
            </a:r>
            <a:r>
              <a:rPr lang="en-US" sz="2000" dirty="0" err="1">
                <a:solidFill>
                  <a:srgbClr val="C00000"/>
                </a:solidFill>
                <a:effectLst/>
              </a:rPr>
              <a:t>upload.php</a:t>
            </a:r>
            <a:r>
              <a:rPr lang="en-US" sz="2000" dirty="0">
                <a:solidFill>
                  <a:srgbClr val="C00000"/>
                </a:solidFill>
                <a:effectLst/>
              </a:rPr>
              <a:t>" method="post" </a:t>
            </a:r>
            <a:r>
              <a:rPr lang="en-US" sz="2000" dirty="0" err="1">
                <a:solidFill>
                  <a:srgbClr val="C00000"/>
                </a:solidFill>
                <a:effectLst/>
              </a:rPr>
              <a:t>enctype</a:t>
            </a:r>
            <a:r>
              <a:rPr lang="en-US" sz="2000" dirty="0">
                <a:solidFill>
                  <a:srgbClr val="C00000"/>
                </a:solidFill>
                <a:effectLst/>
              </a:rPr>
              <a:t>="multipart/form-data"&gt;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autocomplete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62503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12FA3A-7DBF-432E-90B1-A93229C5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</a:t>
            </a:r>
            <a:r>
              <a:rPr lang="en-US" dirty="0"/>
              <a:t> - </a:t>
            </a:r>
            <a:r>
              <a:rPr lang="bg-BG" dirty="0"/>
              <a:t>полета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FE26425-22DC-4661-93D8-023058573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015732"/>
            <a:ext cx="11026066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1800" b="1" dirty="0"/>
              <a:t> </a:t>
            </a:r>
            <a:r>
              <a:rPr lang="en-US" sz="1800" b="1" dirty="0"/>
              <a:t>value</a:t>
            </a:r>
            <a:r>
              <a:rPr lang="bg-BG" sz="1800" b="1" dirty="0"/>
              <a:t> </a:t>
            </a:r>
            <a:r>
              <a:rPr lang="bg-BG" sz="1800" dirty="0"/>
              <a:t>– стойност по подразбиране;</a:t>
            </a:r>
            <a:br>
              <a:rPr lang="bg-BG" sz="1800" dirty="0"/>
            </a:br>
            <a:r>
              <a:rPr lang="bg-BG" sz="1800" dirty="0"/>
              <a:t>при отметки и радиобутони – стойност,  която се изпраща при избрана опция;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&lt;input type="text" name="</a:t>
            </a:r>
            <a:r>
              <a:rPr lang="en-US" sz="1800" dirty="0" err="1"/>
              <a:t>somename</a:t>
            </a:r>
            <a:r>
              <a:rPr lang="en-US" sz="1800" dirty="0"/>
              <a:t>" id="</a:t>
            </a:r>
            <a:r>
              <a:rPr lang="en-US" sz="1800" dirty="0" err="1"/>
              <a:t>somename</a:t>
            </a:r>
            <a:r>
              <a:rPr lang="en-US" sz="1800" dirty="0"/>
              <a:t>" value="</a:t>
            </a:r>
            <a:r>
              <a:rPr lang="en-US" sz="1800" dirty="0" err="1"/>
              <a:t>donika</a:t>
            </a:r>
            <a:r>
              <a:rPr lang="en-US" sz="1800" dirty="0"/>
              <a:t>“ /&gt;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1800" b="1" dirty="0"/>
              <a:t> </a:t>
            </a:r>
            <a:r>
              <a:rPr lang="en-US" sz="1800" b="1" dirty="0"/>
              <a:t>placeholder</a:t>
            </a:r>
            <a:r>
              <a:rPr lang="en-US" sz="1800" dirty="0"/>
              <a:t> – </a:t>
            </a:r>
            <a:r>
              <a:rPr lang="bg-BG" sz="1800" dirty="0"/>
              <a:t>съдържа подсказка за потребителя (не е стойност по подразбиране!!!)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&lt;input type="text" name="</a:t>
            </a:r>
            <a:r>
              <a:rPr lang="en-US" sz="1800" dirty="0" err="1"/>
              <a:t>somename</a:t>
            </a:r>
            <a:r>
              <a:rPr lang="en-US" sz="1800" dirty="0"/>
              <a:t>" id="</a:t>
            </a:r>
            <a:r>
              <a:rPr lang="en-US" sz="1800" dirty="0" err="1"/>
              <a:t>somename</a:t>
            </a:r>
            <a:r>
              <a:rPr lang="en-US" sz="1800" dirty="0"/>
              <a:t>" placeholder="</a:t>
            </a:r>
            <a:r>
              <a:rPr lang="bg-BG" sz="1800" dirty="0"/>
              <a:t>Моля, въведете потребителско име"/&gt;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BD2AFF7E-EAD6-4C89-A7A1-E9A161A9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62" y="3038639"/>
            <a:ext cx="3997980" cy="780722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5F03A253-D109-4153-8E42-5EEE4B632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2" y="5116243"/>
            <a:ext cx="4255068" cy="700202"/>
          </a:xfrm>
          <a:prstGeom prst="rect">
            <a:avLst/>
          </a:prstGeom>
        </p:spPr>
      </p:pic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DA85CCF6-161F-4EF2-9061-5056530B3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947" y="5116243"/>
            <a:ext cx="3469173" cy="6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29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4DBEC-A850-44EE-8648-C043320C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 </a:t>
            </a:r>
            <a:r>
              <a:rPr lang="en-US" dirty="0"/>
              <a:t>- </a:t>
            </a:r>
            <a:r>
              <a:rPr lang="bg-BG" dirty="0"/>
              <a:t>полета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16B33CB-E7D5-4501-A1CF-EEF19487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2015732"/>
            <a:ext cx="10472056" cy="34506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b="1" dirty="0"/>
              <a:t> </a:t>
            </a:r>
            <a:r>
              <a:rPr lang="en-US" b="1" dirty="0" err="1"/>
              <a:t>readonly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bg-BG" dirty="0"/>
              <a:t>не позволява промяна на предварително зададените на полето стойности</a:t>
            </a:r>
            <a:r>
              <a:rPr lang="en-US" dirty="0"/>
              <a:t>. </a:t>
            </a:r>
            <a:r>
              <a:rPr lang="bg-BG" dirty="0"/>
              <a:t>Стойността на полето </a:t>
            </a:r>
            <a:r>
              <a:rPr lang="bg-BG" b="1" dirty="0"/>
              <a:t>се изпраща </a:t>
            </a:r>
            <a:r>
              <a:rPr lang="bg-BG" dirty="0"/>
              <a:t>при </a:t>
            </a:r>
            <a:r>
              <a:rPr lang="en-US" dirty="0"/>
              <a:t>submit</a:t>
            </a:r>
            <a:r>
              <a:rPr lang="bg-BG" dirty="0"/>
              <a:t> на формата!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&lt;input type="text" name="</a:t>
            </a:r>
            <a:r>
              <a:rPr lang="en-US" dirty="0" err="1"/>
              <a:t>somename</a:t>
            </a:r>
            <a:r>
              <a:rPr lang="en-US" dirty="0"/>
              <a:t>" id="</a:t>
            </a:r>
            <a:r>
              <a:rPr lang="en-US" dirty="0" err="1"/>
              <a:t>somename</a:t>
            </a:r>
            <a:r>
              <a:rPr lang="en-US" dirty="0"/>
              <a:t>" value="</a:t>
            </a:r>
            <a:r>
              <a:rPr lang="en-US" dirty="0" err="1"/>
              <a:t>donika</a:t>
            </a:r>
            <a:r>
              <a:rPr lang="en-US" dirty="0"/>
              <a:t>" </a:t>
            </a:r>
            <a:r>
              <a:rPr lang="en-US" dirty="0" err="1"/>
              <a:t>readonly</a:t>
            </a:r>
            <a:r>
              <a:rPr lang="en-US" dirty="0"/>
              <a:t> /&gt;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b="1" dirty="0"/>
              <a:t> </a:t>
            </a:r>
            <a:r>
              <a:rPr lang="en-US" b="1" dirty="0"/>
              <a:t>disabled</a:t>
            </a:r>
            <a:r>
              <a:rPr lang="bg-BG" b="1" dirty="0"/>
              <a:t> 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bg-BG" dirty="0"/>
              <a:t>полето е неактивно и неизползваемо. Стойността му </a:t>
            </a:r>
            <a:r>
              <a:rPr lang="bg-BG" b="1" dirty="0"/>
              <a:t>НЕ се изпраща</a:t>
            </a:r>
            <a:r>
              <a:rPr lang="bg-BG" dirty="0"/>
              <a:t> при </a:t>
            </a:r>
            <a:r>
              <a:rPr lang="en-US" dirty="0"/>
              <a:t>submit</a:t>
            </a:r>
            <a:r>
              <a:rPr lang="bg-BG" dirty="0"/>
              <a:t> на формата!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&lt;input type="text" name="</a:t>
            </a:r>
            <a:r>
              <a:rPr lang="en-US" dirty="0" err="1"/>
              <a:t>somename</a:t>
            </a:r>
            <a:r>
              <a:rPr lang="en-US" dirty="0"/>
              <a:t>" id="</a:t>
            </a:r>
            <a:r>
              <a:rPr lang="en-US" dirty="0" err="1"/>
              <a:t>somename</a:t>
            </a:r>
            <a:r>
              <a:rPr lang="en-US" dirty="0"/>
              <a:t>" value="</a:t>
            </a:r>
            <a:r>
              <a:rPr lang="en-US" dirty="0" err="1"/>
              <a:t>donika</a:t>
            </a:r>
            <a:r>
              <a:rPr lang="en-US" dirty="0"/>
              <a:t>" disabled /&gt;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C5CC50F7-0B81-468B-981C-65CCDD79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2" y="719097"/>
            <a:ext cx="446784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98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4DBEC-A850-44EE-8648-C043320C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</a:t>
            </a:r>
            <a:r>
              <a:rPr lang="en-US" dirty="0"/>
              <a:t> - </a:t>
            </a:r>
            <a:r>
              <a:rPr lang="bg-BG" dirty="0"/>
              <a:t>полета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16B33CB-E7D5-4501-A1CF-EEF19487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2015732"/>
            <a:ext cx="10472056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b="1" dirty="0"/>
              <a:t> </a:t>
            </a:r>
            <a:r>
              <a:rPr lang="en-US" b="1" dirty="0"/>
              <a:t>required </a:t>
            </a:r>
            <a:r>
              <a:rPr lang="en-US" dirty="0"/>
              <a:t>– </a:t>
            </a:r>
            <a:r>
              <a:rPr lang="bg-BG" dirty="0"/>
              <a:t>не допуска </a:t>
            </a:r>
            <a:r>
              <a:rPr lang="en-US" dirty="0"/>
              <a:t>submit </a:t>
            </a:r>
            <a:r>
              <a:rPr lang="bg-BG" dirty="0"/>
              <a:t>на формата, без да бъде попълнено полето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&lt;input type="text" name="</a:t>
            </a:r>
            <a:r>
              <a:rPr lang="en-US" b="1" dirty="0" err="1"/>
              <a:t>somename</a:t>
            </a:r>
            <a:r>
              <a:rPr lang="en-US" b="1" dirty="0"/>
              <a:t>" id="</a:t>
            </a:r>
            <a:r>
              <a:rPr lang="en-US" b="1" dirty="0" err="1"/>
              <a:t>somename</a:t>
            </a:r>
            <a:r>
              <a:rPr lang="en-US" b="1" dirty="0"/>
              <a:t>" required /&gt;</a:t>
            </a: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b="1" dirty="0"/>
              <a:t> </a:t>
            </a:r>
            <a:r>
              <a:rPr lang="en-US" altLang="bg-BG" b="1" dirty="0"/>
              <a:t>m</a:t>
            </a:r>
            <a:r>
              <a:rPr lang="bg-BG" altLang="bg-BG" b="1" dirty="0" err="1"/>
              <a:t>axlength</a:t>
            </a:r>
            <a:r>
              <a:rPr lang="en-US" altLang="bg-BG" b="1" dirty="0"/>
              <a:t>=“50”, </a:t>
            </a:r>
            <a:r>
              <a:rPr lang="en-US" altLang="bg-BG" b="1" dirty="0" err="1"/>
              <a:t>minlength</a:t>
            </a:r>
            <a:r>
              <a:rPr lang="en-US" altLang="bg-BG" b="1" dirty="0"/>
              <a:t>=“5”</a:t>
            </a:r>
            <a:r>
              <a:rPr lang="en-US" altLang="bg-BG" dirty="0"/>
              <a:t> – </a:t>
            </a:r>
            <a:r>
              <a:rPr lang="bg-BG" altLang="bg-BG" dirty="0"/>
              <a:t>максимален / минимален брой на въведените символи</a:t>
            </a:r>
            <a:endParaRPr lang="en-US" alt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b="1" dirty="0"/>
              <a:t> </a:t>
            </a:r>
            <a:r>
              <a:rPr lang="en-US" altLang="bg-BG" b="1" dirty="0"/>
              <a:t>max=“10”, min=“1” </a:t>
            </a:r>
            <a:r>
              <a:rPr lang="bg-BG" altLang="bg-BG" dirty="0"/>
              <a:t>- максимална / минимална приемана стойност</a:t>
            </a:r>
            <a:endParaRPr lang="en-US" altLang="bg-BG" dirty="0"/>
          </a:p>
          <a:p>
            <a:endParaRPr lang="en-US" altLang="bg-BG" b="1" dirty="0"/>
          </a:p>
          <a:p>
            <a:pPr marL="0" indent="0">
              <a:buNone/>
            </a:pPr>
            <a:endParaRPr kumimoji="0" lang="bg-BG" altLang="bg-B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E9C0663B-325B-42BB-9004-89E7821E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6" y="2932157"/>
            <a:ext cx="3592496" cy="12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9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F0381D0-4D00-452B-AE0C-98651839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Fieldset</a:t>
            </a:r>
            <a:r>
              <a:rPr lang="en-US" dirty="0"/>
              <a:t> – </a:t>
            </a:r>
            <a:r>
              <a:rPr lang="bg-BG" dirty="0"/>
              <a:t>контейнер за взаимосвързани елементи във формата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9D88097-D59E-426D-8F30-A2D5CDCF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C982DB4-5E0D-4DE9-AB48-5EABB126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081" y="1983762"/>
            <a:ext cx="4999386" cy="3869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1B128-FDD7-8624-6607-8A9AA7EE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845734"/>
            <a:ext cx="4589078" cy="47143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55008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12513</TotalTime>
  <Words>521</Words>
  <Application>Microsoft Office PowerPoint</Application>
  <PresentationFormat>Widescreen</PresentationFormat>
  <Paragraphs>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Retrospect</vt:lpstr>
      <vt:lpstr>Таблици. HTML форми.</vt:lpstr>
      <vt:lpstr>Таблици – основни елементи</vt:lpstr>
      <vt:lpstr>Таблица</vt:lpstr>
      <vt:lpstr>Таблици – семантични елементи</vt:lpstr>
      <vt:lpstr>Таблица</vt:lpstr>
      <vt:lpstr>Таблици – colspan и rowspan</vt:lpstr>
      <vt:lpstr>Таблици – colspan и rowspan</vt:lpstr>
      <vt:lpstr>HTML форми</vt:lpstr>
      <vt:lpstr>Елемент &lt;form&gt;</vt:lpstr>
      <vt:lpstr>Елементи на HTML форма</vt:lpstr>
      <vt:lpstr>&lt;input type=“…“ /&gt;</vt:lpstr>
      <vt:lpstr>&lt;input type=“…“ /&gt;</vt:lpstr>
      <vt:lpstr>Checkbox</vt:lpstr>
      <vt:lpstr>Radio button</vt:lpstr>
      <vt:lpstr>&lt;input type=“…“ /&gt;</vt:lpstr>
      <vt:lpstr>&lt;input type=“…“ /&gt;</vt:lpstr>
      <vt:lpstr>Бутони</vt:lpstr>
      <vt:lpstr>Textarea</vt:lpstr>
      <vt:lpstr>Select</vt:lpstr>
      <vt:lpstr>Label</vt:lpstr>
      <vt:lpstr>Атрибути - форма</vt:lpstr>
      <vt:lpstr>Атрибути - полета</vt:lpstr>
      <vt:lpstr>Атрибути - полета</vt:lpstr>
      <vt:lpstr>Атрибути - полета</vt:lpstr>
      <vt:lpstr>Fieldset – контейнер за взаимосвързани елементи във формата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82</cp:revision>
  <dcterms:created xsi:type="dcterms:W3CDTF">2021-10-10T20:39:25Z</dcterms:created>
  <dcterms:modified xsi:type="dcterms:W3CDTF">2026-10-10T11:05:44Z</dcterms:modified>
</cp:coreProperties>
</file>