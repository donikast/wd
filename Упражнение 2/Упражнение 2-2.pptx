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77" r:id="rId9"/>
    <p:sldId id="274" r:id="rId10"/>
    <p:sldId id="257" r:id="rId11"/>
    <p:sldId id="258" r:id="rId12"/>
    <p:sldId id="259" r:id="rId13"/>
    <p:sldId id="267" r:id="rId14"/>
    <p:sldId id="268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2" autoAdjust="0"/>
    <p:restoredTop sz="94660"/>
  </p:normalViewPr>
  <p:slideViewPr>
    <p:cSldViewPr snapToGrid="0">
      <p:cViewPr>
        <p:scale>
          <a:sx n="66" d="100"/>
          <a:sy n="66" d="100"/>
        </p:scale>
        <p:origin x="1589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606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71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10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958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83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38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88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23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17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2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14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eveloper.mozilla.org/en-US/docs/Web/Media/Formats/Image_typ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E4C8976-17C4-45EC-947C-021A5037E0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sz="6600" dirty="0">
                <a:solidFill>
                  <a:schemeClr val="tx2"/>
                </a:solidFill>
              </a:rPr>
              <a:t>Хипервръзки</a:t>
            </a:r>
            <a:r>
              <a:rPr lang="en-US" sz="6600" dirty="0">
                <a:solidFill>
                  <a:schemeClr val="tx2"/>
                </a:solidFill>
              </a:rPr>
              <a:t> </a:t>
            </a:r>
            <a:r>
              <a:rPr lang="bg-BG" sz="6600">
                <a:solidFill>
                  <a:schemeClr val="tx2"/>
                </a:solidFill>
              </a:rPr>
              <a:t>и изображения</a:t>
            </a:r>
            <a:endParaRPr lang="bg-BG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C5D0EA47-5C8B-452D-B0C3-4037FFDD60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Упражнение </a:t>
            </a:r>
            <a:r>
              <a:rPr lang="en-US" dirty="0"/>
              <a:t>2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0437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8962390-C2F3-41E3-B653-09F648C76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Хипервръзки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17D9EBC-A343-4AB0-A5D5-0AD20F696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Служат като препратки към:</a:t>
            </a:r>
          </a:p>
          <a:p>
            <a:pPr lvl="1"/>
            <a:r>
              <a:rPr lang="bg-BG" sz="3200" dirty="0"/>
              <a:t>друга </a:t>
            </a:r>
            <a:r>
              <a:rPr lang="en-US" sz="3200" dirty="0"/>
              <a:t>HTML </a:t>
            </a:r>
            <a:r>
              <a:rPr lang="bg-BG" sz="3200" dirty="0"/>
              <a:t>страница;</a:t>
            </a:r>
          </a:p>
          <a:p>
            <a:pPr lvl="1"/>
            <a:r>
              <a:rPr lang="bg-BG" sz="3200" dirty="0"/>
              <a:t>външни Интернет ресурси;</a:t>
            </a:r>
          </a:p>
          <a:p>
            <a:pPr lvl="1"/>
            <a:r>
              <a:rPr lang="bg-BG" sz="3200" dirty="0"/>
              <a:t>файлове;</a:t>
            </a:r>
          </a:p>
          <a:p>
            <a:pPr lvl="1"/>
            <a:r>
              <a:rPr lang="bg-BG" sz="3200" dirty="0"/>
              <a:t>е-</a:t>
            </a:r>
            <a:r>
              <a:rPr lang="en-US" sz="3200" dirty="0"/>
              <a:t>mail </a:t>
            </a:r>
            <a:r>
              <a:rPr lang="bg-BG" sz="3200" dirty="0"/>
              <a:t>адреси;</a:t>
            </a:r>
          </a:p>
          <a:p>
            <a:pPr lvl="1"/>
            <a:r>
              <a:rPr lang="bg-BG" sz="3200" dirty="0"/>
              <a:t>текст от страница.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600" dirty="0"/>
              <a:t> Текст или изображение.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79701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9DE4B9B-E50A-4B66-81A2-A16BD48D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Хипервръзки - елемент</a:t>
            </a:r>
            <a:r>
              <a:rPr lang="en-US" dirty="0"/>
              <a:t> &lt;a&gt;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8DA6DB5-9975-4136-A18C-00C0EFB4B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4400" dirty="0"/>
          </a:p>
          <a:p>
            <a:pPr marL="0" indent="0" algn="ctr">
              <a:buNone/>
            </a:pPr>
            <a:r>
              <a:rPr lang="en-US" sz="4400" dirty="0"/>
              <a:t>&lt;a </a:t>
            </a:r>
            <a:r>
              <a:rPr lang="en-US" sz="4400" dirty="0" err="1"/>
              <a:t>href</a:t>
            </a:r>
            <a:r>
              <a:rPr lang="en-US" sz="4400" dirty="0"/>
              <a:t>=“</a:t>
            </a:r>
            <a:r>
              <a:rPr lang="en-US" sz="4400" dirty="0" err="1"/>
              <a:t>someURL</a:t>
            </a:r>
            <a:r>
              <a:rPr lang="en-US" sz="4400" dirty="0"/>
              <a:t>”&gt;Some text&lt;/a&gt;</a:t>
            </a:r>
            <a:endParaRPr lang="bg-BG" sz="4400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406675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98592AC-C59C-4403-904A-CDCF9436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хипервръзки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647FEE0-80FC-47D4-8635-D452B38CF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1032" y="2015732"/>
            <a:ext cx="10564427" cy="373699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3200" b="0" i="0" dirty="0">
                <a:effectLst/>
                <a:latin typeface="Arial" panose="020B0604020202020204" pitchFamily="34" charset="0"/>
              </a:rPr>
              <a:t> </a:t>
            </a:r>
            <a:r>
              <a:rPr lang="bg-BG" sz="3200" b="0" i="0" dirty="0">
                <a:effectLst/>
                <a:latin typeface="Arial" panose="020B0604020202020204" pitchFamily="34" charset="0"/>
              </a:rPr>
              <a:t>Глобални –</a:t>
            </a:r>
            <a:r>
              <a:rPr lang="en-US" sz="3200" b="0" i="0" dirty="0">
                <a:effectLst/>
                <a:latin typeface="Arial" panose="020B0604020202020204" pitchFamily="34" charset="0"/>
              </a:rPr>
              <a:t> </a:t>
            </a:r>
            <a:r>
              <a:rPr lang="bg-BG" sz="3200" b="0" i="0" dirty="0">
                <a:effectLst/>
                <a:latin typeface="Arial" panose="020B0604020202020204" pitchFamily="34" charset="0"/>
              </a:rPr>
              <a:t>към </a:t>
            </a:r>
            <a:r>
              <a:rPr lang="bg-BG" sz="3200" dirty="0">
                <a:latin typeface="Arial" panose="020B0604020202020204" pitchFamily="34" charset="0"/>
              </a:rPr>
              <a:t>други Интернет ресурси </a:t>
            </a: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bg-BG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sz="32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https://www.tu-varna.bg/</a:t>
            </a:r>
            <a:r>
              <a:rPr lang="en-US" sz="32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tu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-varna/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/&gt;</a:t>
            </a:r>
            <a:r>
              <a:rPr lang="bg-BG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ТУ-Варна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&lt;/a&gt;</a:t>
            </a:r>
            <a:endParaRPr lang="bg-BG" sz="32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sz="3200" b="0" i="0" dirty="0">
                <a:effectLst/>
                <a:latin typeface="Arial" panose="020B0604020202020204" pitchFamily="34" charset="0"/>
              </a:rPr>
              <a:t> Локални – към други </a:t>
            </a:r>
            <a:r>
              <a:rPr lang="bg-BG" sz="3200" dirty="0">
                <a:latin typeface="Arial" panose="020B0604020202020204" pitchFamily="34" charset="0"/>
              </a:rPr>
              <a:t>страници от</a:t>
            </a:r>
            <a:r>
              <a:rPr lang="bg-BG" sz="3200" b="0" i="0" dirty="0">
                <a:effectLst/>
                <a:latin typeface="Arial" panose="020B0604020202020204" pitchFamily="34" charset="0"/>
              </a:rPr>
              <a:t> същия сайт</a:t>
            </a: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bg-BG" sz="3200" dirty="0">
                <a:solidFill>
                  <a:srgbClr val="FF0000"/>
                </a:solidFill>
                <a:latin typeface="Arial" panose="020B0604020202020204" pitchFamily="34" charset="0"/>
              </a:rPr>
              <a:t>&lt;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a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</a:rPr>
              <a:t>href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=“../info/aboutus.html”&gt;</a:t>
            </a:r>
            <a:r>
              <a:rPr lang="bg-BG" sz="3200" dirty="0">
                <a:solidFill>
                  <a:srgbClr val="FF0000"/>
                </a:solidFill>
                <a:latin typeface="Arial" panose="020B0604020202020204" pitchFamily="34" charset="0"/>
              </a:rPr>
              <a:t>За нас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&lt;/a&gt;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3200" dirty="0">
                <a:latin typeface="Arial" panose="020B0604020202020204" pitchFamily="34" charset="0"/>
              </a:rPr>
              <a:t> Хипервръзки за </a:t>
            </a:r>
            <a:r>
              <a:rPr lang="en-US" sz="3200" dirty="0">
                <a:latin typeface="Arial" panose="020B0604020202020204" pitchFamily="34" charset="0"/>
              </a:rPr>
              <a:t>e-mail</a:t>
            </a:r>
          </a:p>
          <a:p>
            <a:pPr marL="0" indent="0" algn="ctr">
              <a:spcBef>
                <a:spcPts val="1800"/>
              </a:spcBef>
              <a:buNone/>
            </a:pP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&lt;a </a:t>
            </a:r>
            <a:r>
              <a:rPr lang="en-US" sz="3200" dirty="0" err="1">
                <a:solidFill>
                  <a:srgbClr val="FF0000"/>
                </a:solidFill>
                <a:latin typeface="Arial" panose="020B0604020202020204" pitchFamily="34" charset="0"/>
              </a:rPr>
              <a:t>href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="mailto:myemail@mail.bg"&gt;Email to us &lt;/a&gt;</a:t>
            </a:r>
            <a:r>
              <a:rPr lang="en-US" sz="3200" dirty="0">
                <a:latin typeface="Arial" panose="020B0604020202020204" pitchFamily="34" charset="0"/>
              </a:rPr>
              <a:t> </a:t>
            </a:r>
            <a:endParaRPr lang="en-US" sz="3200" b="0" i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5919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D96BA66-00A3-471A-BFCF-A398337E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Видове хипервръзки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9C6A4B1-B5A9-423E-AFC8-DA03319AB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21304"/>
            <a:ext cx="10058400" cy="384778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Arial" panose="020B0604020202020204" pitchFamily="34" charset="0"/>
              </a:rPr>
              <a:t> </a:t>
            </a:r>
            <a:r>
              <a:rPr lang="bg-BG" sz="2400" dirty="0">
                <a:latin typeface="Arial" panose="020B0604020202020204" pitchFamily="34" charset="0"/>
              </a:rPr>
              <a:t>Хипервръзки</a:t>
            </a:r>
            <a:r>
              <a:rPr lang="bg-BG" sz="2400" b="0" i="0" dirty="0">
                <a:effectLst/>
                <a:latin typeface="Arial" panose="020B0604020202020204" pitchFamily="34" charset="0"/>
              </a:rPr>
              <a:t> към </a:t>
            </a:r>
            <a:r>
              <a:rPr lang="bg-BG" sz="2400" dirty="0">
                <a:latin typeface="Arial" panose="020B0604020202020204" pitchFamily="34" charset="0"/>
              </a:rPr>
              <a:t>файл</a:t>
            </a:r>
            <a:endParaRPr lang="bg-BG" sz="2400" b="0" i="0" dirty="0">
              <a:effectLst/>
              <a:latin typeface="Arial" panose="020B0604020202020204" pitchFamily="34" charset="0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bg-BG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“students.xlsx”</a:t>
            </a:r>
            <a:r>
              <a:rPr lang="bg-BG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download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bg-BG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Изтег</a:t>
            </a:r>
            <a:r>
              <a:rPr lang="bg-BG" sz="2400" dirty="0">
                <a:solidFill>
                  <a:srgbClr val="FF0000"/>
                </a:solidFill>
                <a:latin typeface="Arial" panose="020B0604020202020204" pitchFamily="34" charset="0"/>
              </a:rPr>
              <a:t>ли списък на студентите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&lt;/a&gt;</a:t>
            </a:r>
            <a:endParaRPr lang="bg-BG" sz="24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0" i="0" dirty="0">
                <a:effectLst/>
                <a:latin typeface="Arial" panose="020B0604020202020204" pitchFamily="34" charset="0"/>
              </a:rPr>
              <a:t> </a:t>
            </a:r>
            <a:r>
              <a:rPr lang="bg-BG" sz="2400" b="0" i="0" dirty="0">
                <a:effectLst/>
                <a:latin typeface="Arial" panose="020B0604020202020204" pitchFamily="34" charset="0"/>
              </a:rPr>
              <a:t>Вътрешни –</a:t>
            </a:r>
            <a:r>
              <a:rPr lang="en-US" sz="2400" b="0" i="0" dirty="0">
                <a:effectLst/>
                <a:latin typeface="Arial" panose="020B0604020202020204" pitchFamily="34" charset="0"/>
              </a:rPr>
              <a:t> </a:t>
            </a:r>
            <a:r>
              <a:rPr lang="bg-BG" sz="2400" b="0" i="0" dirty="0">
                <a:effectLst/>
                <a:latin typeface="Arial" panose="020B0604020202020204" pitchFamily="34" charset="0"/>
              </a:rPr>
              <a:t>към котви в същата страница</a:t>
            </a:r>
            <a:endParaRPr lang="en-US" sz="2400" b="0" i="0" dirty="0">
              <a:effectLst/>
              <a:latin typeface="Arial" panose="020B0604020202020204" pitchFamily="34" charset="0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&lt;h2 id=“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aboutus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”&gt;</a:t>
            </a:r>
            <a:r>
              <a:rPr lang="bg-BG" sz="2400" dirty="0">
                <a:solidFill>
                  <a:srgbClr val="FF0000"/>
                </a:solidFill>
                <a:latin typeface="Arial" panose="020B0604020202020204" pitchFamily="34" charset="0"/>
              </a:rPr>
              <a:t>За нас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&lt;/h2&gt;        </a:t>
            </a:r>
            <a:r>
              <a:rPr lang="bg-BG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href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=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“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#</a:t>
            </a:r>
            <a:r>
              <a:rPr lang="en-US" sz="2400" b="0" i="0" dirty="0" err="1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aboutus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”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bg-BG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За нас</a:t>
            </a:r>
            <a:r>
              <a:rPr lang="en-US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&lt;/a&gt;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05496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BEE121B-909E-4FC6-8985-1A7B7021C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Хипервръзка под формата на изображение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F35CE20-2BB6-458D-97C2-1CFCB2920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bg-BG" sz="3200" dirty="0">
              <a:latin typeface="Arial" panose="020B0604020202020204" pitchFamily="34" charset="0"/>
            </a:endParaRPr>
          </a:p>
          <a:p>
            <a:endParaRPr lang="bg-B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A7B992-B73D-097C-5D7E-BA0A57437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591" y="3024429"/>
            <a:ext cx="7330268" cy="16659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4861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D40580B-C5EA-4DDB-9F3C-648375BB7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Някои атрибути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DD5ABD3-F540-41EB-9F2F-6C7C43177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800" dirty="0">
                <a:latin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</a:rPr>
              <a:t>href</a:t>
            </a:r>
            <a:r>
              <a:rPr lang="en-US" sz="2800" dirty="0">
                <a:latin typeface="Arial" panose="020B0604020202020204" pitchFamily="34" charset="0"/>
              </a:rPr>
              <a:t>=“../info/aboutus.html”</a:t>
            </a:r>
            <a:endParaRPr lang="bg-BG" sz="280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sz="2800" dirty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target=“</a:t>
            </a:r>
            <a:r>
              <a:rPr lang="en-US" sz="2800" b="0" i="0" dirty="0">
                <a:effectLst/>
                <a:latin typeface="Arial" panose="020B0604020202020204" pitchFamily="34" charset="0"/>
              </a:rPr>
              <a:t>_self | _blank | _parent | _top</a:t>
            </a:r>
            <a:r>
              <a:rPr lang="en-US" sz="2800" dirty="0">
                <a:latin typeface="Arial" panose="020B0604020202020204" pitchFamily="34" charset="0"/>
              </a:rPr>
              <a:t>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800" dirty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title – </a:t>
            </a:r>
            <a:r>
              <a:rPr lang="bg-BG" sz="2800" dirty="0">
                <a:latin typeface="Arial" panose="020B0604020202020204" pitchFamily="34" charset="0"/>
              </a:rPr>
              <a:t>текст, който се показва,</a:t>
            </a:r>
            <a:r>
              <a:rPr lang="ru-RU" sz="2800" dirty="0">
                <a:latin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</a:rPr>
              <a:t>когато</a:t>
            </a:r>
            <a:r>
              <a:rPr lang="ru-RU" sz="2800" dirty="0">
                <a:latin typeface="Arial" panose="020B0604020202020204" pitchFamily="34" charset="0"/>
              </a:rPr>
              <a:t> </a:t>
            </a:r>
            <a:r>
              <a:rPr lang="ru-RU" sz="2800" dirty="0" err="1">
                <a:latin typeface="Arial" panose="020B0604020202020204" pitchFamily="34" charset="0"/>
              </a:rPr>
              <a:t>мишката</a:t>
            </a:r>
            <a:r>
              <a:rPr lang="ru-RU" sz="2800" dirty="0">
                <a:latin typeface="Arial" panose="020B0604020202020204" pitchFamily="34" charset="0"/>
              </a:rPr>
              <a:t> се </a:t>
            </a:r>
            <a:r>
              <a:rPr lang="ru-RU" sz="2800" dirty="0" err="1">
                <a:latin typeface="Arial" panose="020B0604020202020204" pitchFamily="34" charset="0"/>
              </a:rPr>
              <a:t>задържи</a:t>
            </a:r>
            <a:r>
              <a:rPr lang="ru-RU" sz="2800" dirty="0">
                <a:latin typeface="Arial" panose="020B0604020202020204" pitchFamily="34" charset="0"/>
              </a:rPr>
              <a:t> над </a:t>
            </a:r>
            <a:r>
              <a:rPr lang="ru-RU" sz="2800" dirty="0" err="1">
                <a:latin typeface="Arial" panose="020B0604020202020204" pitchFamily="34" charset="0"/>
              </a:rPr>
              <a:t>връзката</a:t>
            </a:r>
            <a:endParaRPr lang="en-US" sz="280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sz="2800" dirty="0">
                <a:latin typeface="Arial" panose="020B0604020202020204" pitchFamily="34" charset="0"/>
              </a:rPr>
              <a:t> </a:t>
            </a:r>
            <a:r>
              <a:rPr lang="en-US" sz="2800" dirty="0">
                <a:latin typeface="Arial" panose="020B0604020202020204" pitchFamily="34" charset="0"/>
              </a:rPr>
              <a:t>download</a:t>
            </a:r>
            <a:endParaRPr lang="ru-RU" sz="2800" dirty="0">
              <a:latin typeface="Arial" panose="020B0604020202020204" pitchFamily="34" charset="0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526123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030D-E5B9-30BF-183D-977BF521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Задаване на път</a:t>
            </a:r>
            <a:r>
              <a:rPr lang="en-US" dirty="0"/>
              <a:t> </a:t>
            </a:r>
            <a:r>
              <a:rPr lang="bg-BG" dirty="0"/>
              <a:t>в хипервръзка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4CAE0-8FDD-8B0E-FD41-2A1E66EB99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7818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index.html: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 "about/profile.html"  | </a:t>
            </a:r>
            <a:r>
              <a:rPr lang="en-US" dirty="0" err="1"/>
              <a:t>href</a:t>
            </a:r>
            <a:r>
              <a:rPr lang="en-US" dirty="0"/>
              <a:t>="./about/profile.html"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=“products/phones/mobiles.html”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profile.html: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  <a:r>
              <a:rPr lang="en-US" dirty="0" err="1"/>
              <a:t>href</a:t>
            </a:r>
            <a:r>
              <a:rPr lang="en-US" dirty="0"/>
              <a:t>="../index.html"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tablets.html: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  <a:r>
              <a:rPr lang="en-US" dirty="0" err="1"/>
              <a:t>href</a:t>
            </a:r>
            <a:r>
              <a:rPr lang="en-US" dirty="0"/>
              <a:t>="phones/mobiles.html"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bg-BG" dirty="0"/>
              <a:t>от </a:t>
            </a:r>
            <a:r>
              <a:rPr lang="en-US" dirty="0"/>
              <a:t>mobiles.html: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="../../index.html"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="../tablets.html"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href</a:t>
            </a:r>
            <a:r>
              <a:rPr lang="en-US" dirty="0"/>
              <a:t>="../../about/profile.html" 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16AD3-2AFB-D402-585D-B3D4303DD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791328"/>
            <a:ext cx="5015620" cy="304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0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8A6A367-78C5-444B-A711-CC1CEF99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Навигация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90FF59D-24B8-A190-9AFA-CA432BAA39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1179" y="2254628"/>
            <a:ext cx="4953815" cy="8169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147CA8-FD15-7866-2DFB-9E37E10EB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89336"/>
            <a:ext cx="4039164" cy="18671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52536B-B508-5067-3366-159A39225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27" y="3901082"/>
            <a:ext cx="5534797" cy="22482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213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1FF7ABD-3CEC-4F7A-A680-919A9B0D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5" y="200838"/>
            <a:ext cx="10413170" cy="1049235"/>
          </a:xfrm>
        </p:spPr>
        <p:txBody>
          <a:bodyPr>
            <a:noAutofit/>
          </a:bodyPr>
          <a:lstStyle/>
          <a:p>
            <a:r>
              <a:rPr lang="bg-BG" sz="3200" dirty="0"/>
              <a:t>Формати на изображения, поддържани от браузърите</a:t>
            </a:r>
          </a:p>
        </p:txBody>
      </p:sp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CE51E654-431B-455C-BB07-58652756105C}"/>
              </a:ext>
            </a:extLst>
          </p:cNvPr>
          <p:cNvSpPr txBox="1"/>
          <p:nvPr/>
        </p:nvSpPr>
        <p:spPr>
          <a:xfrm>
            <a:off x="471056" y="5587430"/>
            <a:ext cx="117209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bg-BG" dirty="0"/>
              <a:t>Други: </a:t>
            </a:r>
            <a:r>
              <a:rPr lang="en-US" dirty="0"/>
              <a:t> APNG</a:t>
            </a:r>
            <a:r>
              <a:rPr lang="bg-BG" dirty="0"/>
              <a:t>,  </a:t>
            </a:r>
            <a:r>
              <a:rPr lang="en-US" dirty="0"/>
              <a:t>AVIF</a:t>
            </a:r>
            <a:r>
              <a:rPr lang="bg-BG" dirty="0"/>
              <a:t>...   Повече: </a:t>
            </a:r>
            <a:r>
              <a:rPr lang="en-US" dirty="0">
                <a:hlinkClick r:id="rId2"/>
              </a:rPr>
              <a:t>https://developer.mozilla.org/en-US/docs/Web/Media/Formats/Image_types</a:t>
            </a:r>
            <a:r>
              <a:rPr lang="bg-BG" dirty="0"/>
              <a:t> </a:t>
            </a:r>
            <a:endParaRPr lang="bg-BG" sz="1800" dirty="0"/>
          </a:p>
        </p:txBody>
      </p:sp>
      <p:graphicFrame>
        <p:nvGraphicFramePr>
          <p:cNvPr id="3" name="Таблица 4">
            <a:extLst>
              <a:ext uri="{FF2B5EF4-FFF2-40B4-BE49-F238E27FC236}">
                <a16:creationId xmlns:a16="http://schemas.microsoft.com/office/drawing/2014/main" id="{6AE5E6A3-660D-439B-809A-D3449F0BD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874891"/>
              </p:ext>
            </p:extLst>
          </p:nvPr>
        </p:nvGraphicFramePr>
        <p:xfrm>
          <a:off x="558365" y="1170658"/>
          <a:ext cx="10653706" cy="4255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304">
                  <a:extLst>
                    <a:ext uri="{9D8B030D-6E8A-4147-A177-3AD203B41FA5}">
                      <a16:colId xmlns:a16="http://schemas.microsoft.com/office/drawing/2014/main" val="282095708"/>
                    </a:ext>
                  </a:extLst>
                </a:gridCol>
                <a:gridCol w="3621530">
                  <a:extLst>
                    <a:ext uri="{9D8B030D-6E8A-4147-A177-3AD203B41FA5}">
                      <a16:colId xmlns:a16="http://schemas.microsoft.com/office/drawing/2014/main" val="2205060135"/>
                    </a:ext>
                  </a:extLst>
                </a:gridCol>
                <a:gridCol w="6012872">
                  <a:extLst>
                    <a:ext uri="{9D8B030D-6E8A-4147-A177-3AD203B41FA5}">
                      <a16:colId xmlns:a16="http://schemas.microsoft.com/office/drawing/2014/main" val="99787958"/>
                    </a:ext>
                  </a:extLst>
                </a:gridCol>
              </a:tblGrid>
              <a:tr h="289937">
                <a:tc>
                  <a:txBody>
                    <a:bodyPr/>
                    <a:lstStyle/>
                    <a:p>
                      <a:r>
                        <a:rPr lang="bg-BG" sz="1400" dirty="0"/>
                        <a:t>Формат</a:t>
                      </a:r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Характеристики</a:t>
                      </a:r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r>
                        <a:rPr lang="bg-BG" sz="1400" dirty="0"/>
                        <a:t>Употреба</a:t>
                      </a:r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442734639"/>
                  </a:ext>
                </a:extLst>
              </a:tr>
              <a:tr h="1119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GIF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dirty="0"/>
                        <a:t>256 (8-</a:t>
                      </a:r>
                      <a:r>
                        <a:rPr lang="bg-BG" sz="1400" dirty="0"/>
                        <a:t>битов цвят</a:t>
                      </a:r>
                      <a:r>
                        <a:rPr lang="en-US" sz="1400" dirty="0"/>
                        <a:t>)</a:t>
                      </a:r>
                      <a:endParaRPr lang="bg-BG" sz="14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Компресия</a:t>
                      </a:r>
                      <a:r>
                        <a:rPr lang="bg-BG" sz="1400" dirty="0"/>
                        <a:t> без загуба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/>
                        <a:t>Позволява прозрачност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/>
                        <a:t>Възможност за създаване на анимирани изображения</a:t>
                      </a:r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Изображени</a:t>
                      </a:r>
                      <a:r>
                        <a:rPr lang="bg-BG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я</a:t>
                      </a:r>
                      <a:r>
                        <a:rPr lang="ru-RU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 </a:t>
                      </a:r>
                      <a:r>
                        <a:rPr lang="ru-RU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голяма</a:t>
                      </a:r>
                      <a:r>
                        <a:rPr lang="ru-RU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острота, </a:t>
                      </a:r>
                      <a:r>
                        <a:rPr lang="ru-RU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малко</a:t>
                      </a:r>
                      <a:r>
                        <a:rPr lang="ru-RU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цветове</a:t>
                      </a:r>
                      <a:r>
                        <a:rPr lang="ru-RU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текст </a:t>
                      </a:r>
                      <a:endParaRPr lang="en-US" sz="1400" dirty="0"/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/>
                        <a:t>Лого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/>
                        <a:t>Графики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/>
                        <a:t>Диаграми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/>
                        <a:t>Някои анимирани изображения</a:t>
                      </a:r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2931996836"/>
                  </a:ext>
                </a:extLst>
              </a:tr>
              <a:tr h="5790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JPEG</a:t>
                      </a:r>
                      <a:endParaRPr lang="bg-BG" sz="1400" dirty="0"/>
                    </a:p>
                    <a:p>
                      <a:pPr algn="ctr"/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bg-BG" sz="1400" dirty="0"/>
                        <a:t>16,7 млн. </a:t>
                      </a:r>
                      <a:r>
                        <a:rPr lang="en-US" sz="1400" dirty="0"/>
                        <a:t>(</a:t>
                      </a:r>
                      <a:r>
                        <a:rPr lang="bg-BG" sz="1400" dirty="0"/>
                        <a:t>24</a:t>
                      </a:r>
                      <a:r>
                        <a:rPr lang="en-US" sz="1400" dirty="0"/>
                        <a:t>-</a:t>
                      </a:r>
                      <a:r>
                        <a:rPr lang="bg-BG" sz="1400" dirty="0"/>
                        <a:t>битов цвят</a:t>
                      </a:r>
                      <a:r>
                        <a:rPr lang="en-US" sz="1400" dirty="0"/>
                        <a:t>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bg-B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Компресия</a:t>
                      </a:r>
                      <a:r>
                        <a:rPr lang="bg-BG" sz="1400" dirty="0"/>
                        <a:t> със загуба</a:t>
                      </a:r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bg-BG" sz="1400" dirty="0"/>
                        <a:t>Снимки</a:t>
                      </a:r>
                      <a:r>
                        <a:rPr lang="en-US" sz="1400" dirty="0"/>
                        <a:t> </a:t>
                      </a:r>
                      <a:r>
                        <a:rPr lang="ru-RU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 много и </a:t>
                      </a:r>
                      <a:r>
                        <a:rPr lang="ru-RU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преливащи</a:t>
                      </a:r>
                      <a:r>
                        <a:rPr lang="ru-RU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се </a:t>
                      </a:r>
                      <a:r>
                        <a:rPr lang="ru-RU" sz="1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цветове</a:t>
                      </a:r>
                      <a:r>
                        <a:rPr lang="ru-RU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bg-BG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Неподвижни изображения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372243502"/>
                  </a:ext>
                </a:extLst>
              </a:tr>
              <a:tr h="7001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PNG</a:t>
                      </a:r>
                      <a:endParaRPr lang="bg-BG" sz="1400" dirty="0"/>
                    </a:p>
                    <a:p>
                      <a:pPr algn="ctr"/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bg-BG" sz="1400" dirty="0"/>
                        <a:t>16,7 млн. </a:t>
                      </a:r>
                      <a:r>
                        <a:rPr lang="en-US" sz="1400" dirty="0"/>
                        <a:t>(</a:t>
                      </a:r>
                      <a:r>
                        <a:rPr lang="bg-BG" sz="1400" dirty="0"/>
                        <a:t>24</a:t>
                      </a:r>
                      <a:r>
                        <a:rPr lang="en-US" sz="1400" dirty="0"/>
                        <a:t>-</a:t>
                      </a:r>
                      <a:r>
                        <a:rPr lang="bg-BG" sz="1400" dirty="0"/>
                        <a:t>битов цвят</a:t>
                      </a:r>
                      <a:r>
                        <a:rPr lang="en-US" sz="1400" dirty="0"/>
                        <a:t>)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Компресия</a:t>
                      </a:r>
                      <a:r>
                        <a:rPr lang="bg-BG" sz="1400" dirty="0"/>
                        <a:t> без загуба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/>
                        <a:t>Позволява прозрачност</a:t>
                      </a:r>
                    </a:p>
                  </a:txBody>
                  <a:tcPr marL="77698" marR="77698" marT="38849" marB="38849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400" dirty="0">
                          <a:effectLst/>
                        </a:rPr>
                        <a:t>При </a:t>
                      </a:r>
                      <a:r>
                        <a:rPr lang="ru-RU" sz="1400" dirty="0" err="1">
                          <a:effectLst/>
                        </a:rPr>
                        <a:t>необходимост</a:t>
                      </a:r>
                      <a:r>
                        <a:rPr lang="ru-RU" sz="1400" dirty="0">
                          <a:effectLst/>
                        </a:rPr>
                        <a:t> от </a:t>
                      </a:r>
                      <a:r>
                        <a:rPr lang="ru-RU" sz="1400" dirty="0" err="1">
                          <a:effectLst/>
                        </a:rPr>
                        <a:t>по-прецизно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възпроизвеждане</a:t>
                      </a:r>
                      <a:r>
                        <a:rPr lang="ru-RU" sz="1400" dirty="0">
                          <a:effectLst/>
                        </a:rPr>
                        <a:t> на </a:t>
                      </a:r>
                      <a:r>
                        <a:rPr lang="ru-RU" sz="1400" dirty="0" err="1">
                          <a:effectLst/>
                        </a:rPr>
                        <a:t>изображенията</a:t>
                      </a:r>
                      <a:endParaRPr lang="ru-RU" sz="1400" dirty="0">
                        <a:effectLst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400" dirty="0" err="1">
                          <a:effectLst/>
                        </a:rPr>
                        <a:t>Когато</a:t>
                      </a:r>
                      <a:r>
                        <a:rPr lang="ru-RU" sz="1400" dirty="0">
                          <a:effectLst/>
                        </a:rPr>
                        <a:t> е необходима </a:t>
                      </a:r>
                      <a:r>
                        <a:rPr lang="ru-RU" sz="1400" dirty="0" err="1">
                          <a:effectLst/>
                        </a:rPr>
                        <a:t>прозрачност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96792877"/>
                  </a:ext>
                </a:extLst>
              </a:tr>
              <a:tr h="5805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SVG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Мащабируема</a:t>
                      </a:r>
                      <a:r>
                        <a:rPr lang="bg-BG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векторна графика</a:t>
                      </a:r>
                    </a:p>
                  </a:txBody>
                  <a:tcPr marL="77698" marR="77698" marT="38849" marB="38849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>
                          <a:effectLst/>
                        </a:rPr>
                        <a:t>Идеален за </a:t>
                      </a:r>
                      <a:r>
                        <a:rPr lang="ru-RU" sz="1400" dirty="0" err="1">
                          <a:effectLst/>
                        </a:rPr>
                        <a:t>елементи</a:t>
                      </a:r>
                      <a:r>
                        <a:rPr lang="ru-RU" sz="1400" dirty="0">
                          <a:effectLst/>
                        </a:rPr>
                        <a:t> на </a:t>
                      </a:r>
                      <a:r>
                        <a:rPr lang="ru-RU" sz="1400" dirty="0" err="1">
                          <a:effectLst/>
                        </a:rPr>
                        <a:t>потребителския</a:t>
                      </a:r>
                      <a:r>
                        <a:rPr lang="ru-RU" sz="1400" dirty="0">
                          <a:effectLst/>
                        </a:rPr>
                        <a:t> интерфейс, </a:t>
                      </a:r>
                      <a:r>
                        <a:rPr lang="ru-RU" sz="1400" dirty="0" err="1">
                          <a:effectLst/>
                        </a:rPr>
                        <a:t>икони</a:t>
                      </a:r>
                      <a:r>
                        <a:rPr lang="ru-RU" sz="1400" dirty="0">
                          <a:effectLst/>
                        </a:rPr>
                        <a:t>, </a:t>
                      </a:r>
                      <a:r>
                        <a:rPr lang="ru-RU" sz="1400" dirty="0" err="1">
                          <a:effectLst/>
                        </a:rPr>
                        <a:t>диаграми</a:t>
                      </a:r>
                      <a:r>
                        <a:rPr lang="ru-RU" sz="1400" dirty="0">
                          <a:effectLst/>
                        </a:rPr>
                        <a:t> и т.н., </a:t>
                      </a:r>
                      <a:r>
                        <a:rPr lang="ru-RU" sz="1400" dirty="0" err="1">
                          <a:effectLst/>
                        </a:rPr>
                        <a:t>които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трябва</a:t>
                      </a:r>
                      <a:r>
                        <a:rPr lang="ru-RU" sz="1400" dirty="0">
                          <a:effectLst/>
                        </a:rPr>
                        <a:t> да </a:t>
                      </a:r>
                      <a:r>
                        <a:rPr lang="ru-RU" sz="1400" dirty="0" err="1">
                          <a:effectLst/>
                        </a:rPr>
                        <a:t>бъдат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начертани</a:t>
                      </a:r>
                      <a:r>
                        <a:rPr lang="ru-RU" sz="1400" dirty="0">
                          <a:effectLst/>
                        </a:rPr>
                        <a:t> точно в </a:t>
                      </a:r>
                      <a:r>
                        <a:rPr lang="ru-RU" sz="1400" dirty="0" err="1">
                          <a:effectLst/>
                        </a:rPr>
                        <a:t>различни</a:t>
                      </a:r>
                      <a:r>
                        <a:rPr lang="ru-RU" sz="1400" dirty="0">
                          <a:effectLst/>
                        </a:rPr>
                        <a:t> </a:t>
                      </a:r>
                      <a:r>
                        <a:rPr lang="ru-RU" sz="1400" dirty="0" err="1">
                          <a:effectLst/>
                        </a:rPr>
                        <a:t>размери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3011565752"/>
                  </a:ext>
                </a:extLst>
              </a:tr>
              <a:tr h="7539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WebP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>
                          <a:effectLst/>
                        </a:rPr>
                        <a:t>Формат на уеб картина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bg-BG" sz="1400" dirty="0">
                          <a:effectLst/>
                        </a:rPr>
                        <a:t>Компресия с и без загуба на качество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Много </a:t>
                      </a:r>
                      <a:r>
                        <a:rPr lang="ru-RU" sz="1400" dirty="0" err="1"/>
                        <a:t>по-добра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компресия</a:t>
                      </a:r>
                      <a:r>
                        <a:rPr lang="ru-RU" sz="1400" dirty="0"/>
                        <a:t> от PNG или JPEG </a:t>
                      </a:r>
                      <a:endParaRPr lang="bg-BG" sz="1400" dirty="0"/>
                    </a:p>
                  </a:txBody>
                  <a:tcPr marL="81466" marR="81466" marT="40733" marB="40733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400" dirty="0"/>
                        <a:t>При </a:t>
                      </a:r>
                      <a:r>
                        <a:rPr lang="ru-RU" sz="1400" dirty="0" err="1"/>
                        <a:t>необходимост</a:t>
                      </a:r>
                      <a:r>
                        <a:rPr lang="ru-RU" sz="1400" dirty="0"/>
                        <a:t> от </a:t>
                      </a:r>
                      <a:r>
                        <a:rPr lang="ru-RU" sz="1400" dirty="0" err="1"/>
                        <a:t>по-големи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дълбочини</a:t>
                      </a:r>
                      <a:r>
                        <a:rPr lang="ru-RU" sz="1400" dirty="0"/>
                        <a:t> на </a:t>
                      </a:r>
                      <a:r>
                        <a:rPr lang="ru-RU" sz="1400" dirty="0" err="1"/>
                        <a:t>цветовете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анимирани</a:t>
                      </a:r>
                      <a:r>
                        <a:rPr lang="ru-RU" sz="1400" dirty="0"/>
                        <a:t> рамки, </a:t>
                      </a:r>
                      <a:r>
                        <a:rPr lang="ru-RU" sz="1400" dirty="0" err="1"/>
                        <a:t>прозрачност</a:t>
                      </a:r>
                      <a:r>
                        <a:rPr lang="ru-RU" sz="1400" dirty="0"/>
                        <a:t> и т.н. </a:t>
                      </a:r>
                    </a:p>
                  </a:txBody>
                  <a:tcPr marL="81466" marR="81466" marT="40733" marB="40733"/>
                </a:tc>
                <a:extLst>
                  <a:ext uri="{0D108BD9-81ED-4DB2-BD59-A6C34878D82A}">
                    <a16:rowId xmlns:a16="http://schemas.microsoft.com/office/drawing/2014/main" val="2789236984"/>
                  </a:ext>
                </a:extLst>
              </a:tr>
            </a:tbl>
          </a:graphicData>
        </a:graphic>
      </p:graphicFrame>
      <p:pic>
        <p:nvPicPr>
          <p:cNvPr id="6" name="Картина 5">
            <a:extLst>
              <a:ext uri="{FF2B5EF4-FFF2-40B4-BE49-F238E27FC236}">
                <a16:creationId xmlns:a16="http://schemas.microsoft.com/office/drawing/2014/main" id="{7D8372C5-0A81-4708-9BA8-541B21F14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822" y="0"/>
            <a:ext cx="1825426" cy="117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15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62E3881-A17D-48A5-BC0B-BB340F4FD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Изображение</a:t>
            </a:r>
            <a:r>
              <a:rPr lang="en-US" dirty="0"/>
              <a:t> – </a:t>
            </a:r>
            <a:r>
              <a:rPr lang="bg-BG" dirty="0"/>
              <a:t>елемент </a:t>
            </a: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bg-BG" dirty="0"/>
              <a:t> </a:t>
            </a:r>
            <a:r>
              <a:rPr lang="en-US" dirty="0"/>
              <a:t>/&gt;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7DED3C4-5B03-400B-8941-98A360111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312" y="2101993"/>
            <a:ext cx="10797403" cy="3450613"/>
          </a:xfrm>
        </p:spPr>
        <p:txBody>
          <a:bodyPr/>
          <a:lstStyle/>
          <a:p>
            <a:pPr marL="0" indent="0">
              <a:buNone/>
            </a:pPr>
            <a:endParaRPr lang="bg-BG" sz="2800" dirty="0">
              <a:effectLst/>
            </a:endParaRPr>
          </a:p>
          <a:p>
            <a:pPr marL="0" indent="0">
              <a:buNone/>
            </a:pPr>
            <a:endParaRPr lang="bg-BG" sz="2800" dirty="0"/>
          </a:p>
          <a:p>
            <a:pPr marL="0" indent="0">
              <a:buNone/>
            </a:pPr>
            <a:r>
              <a:rPr lang="en-US" sz="3200" dirty="0">
                <a:effectLst/>
              </a:rPr>
              <a:t>&lt;</a:t>
            </a:r>
            <a:r>
              <a:rPr lang="en-US" sz="3200" dirty="0" err="1">
                <a:effectLst/>
              </a:rPr>
              <a:t>img</a:t>
            </a:r>
            <a:r>
              <a:rPr lang="en-US" sz="3200" dirty="0">
                <a:effectLst/>
              </a:rPr>
              <a:t> </a:t>
            </a:r>
            <a:r>
              <a:rPr lang="en-US" sz="3200" dirty="0" err="1">
                <a:effectLst/>
              </a:rPr>
              <a:t>src</a:t>
            </a:r>
            <a:r>
              <a:rPr lang="en-US" sz="3200" dirty="0">
                <a:effectLst/>
              </a:rPr>
              <a:t>=“roses.jpg" alt=“A vase with red roses“ /&gt;</a:t>
            </a:r>
            <a:endParaRPr lang="bg-BG" sz="3200" dirty="0"/>
          </a:p>
          <a:p>
            <a:endParaRPr lang="bg-BG" dirty="0"/>
          </a:p>
        </p:txBody>
      </p:sp>
      <p:pic>
        <p:nvPicPr>
          <p:cNvPr id="4" name="Картина 3" descr="Картина, която съдържа растение, цвете, букет, закрито&#10;&#10;Описанието е генерирано автоматично">
            <a:extLst>
              <a:ext uri="{FF2B5EF4-FFF2-40B4-BE49-F238E27FC236}">
                <a16:creationId xmlns:a16="http://schemas.microsoft.com/office/drawing/2014/main" id="{74D0CE92-533D-4F5B-A6A0-1368DDCEA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567" y="2172709"/>
            <a:ext cx="2521920" cy="276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2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0402D5-69AC-47B2-A57F-8D7AD944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Някои атрибути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ADECC30-B481-42F6-A596-F41EBAC3C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61" y="1953087"/>
            <a:ext cx="10522194" cy="381739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effectLst/>
              </a:rPr>
              <a:t> </a:t>
            </a:r>
            <a:r>
              <a:rPr lang="en-US" sz="2400" dirty="0" err="1">
                <a:effectLst/>
              </a:rPr>
              <a:t>src</a:t>
            </a:r>
            <a:r>
              <a:rPr lang="en-US" sz="2400" dirty="0">
                <a:effectLst/>
              </a:rPr>
              <a:t>=</a:t>
            </a:r>
            <a:r>
              <a:rPr lang="en-US" sz="2400" dirty="0"/>
              <a:t>“</a:t>
            </a:r>
            <a:r>
              <a:rPr lang="en-US" sz="2400" dirty="0">
                <a:effectLst/>
              </a:rPr>
              <a:t>roses.jpg</a:t>
            </a:r>
            <a:r>
              <a:rPr lang="en-US" sz="2400" dirty="0"/>
              <a:t>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effectLst/>
              </a:rPr>
              <a:t> </a:t>
            </a:r>
            <a:r>
              <a:rPr lang="en-US" sz="2400" dirty="0">
                <a:effectLst/>
              </a:rPr>
              <a:t>alt=“A vase with red roses“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title=“</a:t>
            </a:r>
            <a:r>
              <a:rPr lang="en-US" sz="2400" dirty="0">
                <a:effectLst/>
              </a:rPr>
              <a:t>My birthday flowers</a:t>
            </a:r>
            <a:r>
              <a:rPr lang="en-US" sz="2400" dirty="0"/>
              <a:t>” </a:t>
            </a:r>
            <a:r>
              <a:rPr lang="en-US" sz="2400" dirty="0">
                <a:latin typeface="Arial" panose="020B0604020202020204" pitchFamily="34" charset="0"/>
              </a:rPr>
              <a:t>– </a:t>
            </a:r>
            <a:r>
              <a:rPr lang="bg-BG" sz="2400" dirty="0">
                <a:latin typeface="Arial" panose="020B0604020202020204" pitchFamily="34" charset="0"/>
              </a:rPr>
              <a:t>текст, който се показва,</a:t>
            </a:r>
            <a:r>
              <a:rPr lang="ru-RU" sz="2400" dirty="0">
                <a:latin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</a:rPr>
              <a:t>когато</a:t>
            </a:r>
            <a:r>
              <a:rPr lang="ru-RU" sz="2400" dirty="0">
                <a:latin typeface="Arial" panose="020B0604020202020204" pitchFamily="34" charset="0"/>
              </a:rPr>
              <a:t> </a:t>
            </a:r>
            <a:r>
              <a:rPr lang="ru-RU" sz="2400" dirty="0" err="1">
                <a:latin typeface="Arial" panose="020B0604020202020204" pitchFamily="34" charset="0"/>
              </a:rPr>
              <a:t>мишката</a:t>
            </a:r>
            <a:r>
              <a:rPr lang="ru-RU" sz="2400" dirty="0">
                <a:latin typeface="Arial" panose="020B0604020202020204" pitchFamily="34" charset="0"/>
              </a:rPr>
              <a:t> се </a:t>
            </a:r>
            <a:r>
              <a:rPr lang="ru-RU" sz="2400" dirty="0" err="1">
                <a:latin typeface="Arial" panose="020B0604020202020204" pitchFamily="34" charset="0"/>
              </a:rPr>
              <a:t>задържи</a:t>
            </a:r>
            <a:r>
              <a:rPr lang="ru-RU" sz="2400" dirty="0">
                <a:latin typeface="Arial" panose="020B0604020202020204" pitchFamily="34" charset="0"/>
              </a:rPr>
              <a:t> над </a:t>
            </a:r>
            <a:r>
              <a:rPr lang="bg-BG" sz="2400" dirty="0">
                <a:latin typeface="Arial" panose="020B0604020202020204" pitchFamily="34" charset="0"/>
              </a:rPr>
              <a:t>изображението</a:t>
            </a:r>
            <a:endParaRPr lang="en-US" sz="2400" dirty="0">
              <a:latin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effectLst/>
              </a:rPr>
              <a:t> width, height</a:t>
            </a:r>
            <a:endParaRPr lang="bg-BG" sz="2400" dirty="0">
              <a:effectLst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95198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903C45A-9AE5-4780-8261-C55ACAA79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 </a:t>
            </a:r>
            <a:r>
              <a:rPr lang="en-US" dirty="0"/>
              <a:t>&lt;figure&gt;</a:t>
            </a:r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9E0CB542-8B77-41D2-A642-E5C5EF9E4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861" y="2315051"/>
            <a:ext cx="2940163" cy="251198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745EC-1C4E-E760-FC55-D5E31B541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9986D2-BF9C-3C26-3E2E-78E9016C0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58" y="2703622"/>
            <a:ext cx="6619748" cy="14507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9389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E1C9475-F9C0-49A3-9FC9-1E1026A0A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Елемент </a:t>
            </a:r>
            <a:r>
              <a:rPr lang="en-US" dirty="0"/>
              <a:t>&lt;picture&gt;</a:t>
            </a:r>
            <a:endParaRPr lang="bg-BG" dirty="0"/>
          </a:p>
        </p:txBody>
      </p:sp>
      <p:pic>
        <p:nvPicPr>
          <p:cNvPr id="9" name="Картина 8">
            <a:extLst>
              <a:ext uri="{FF2B5EF4-FFF2-40B4-BE49-F238E27FC236}">
                <a16:creationId xmlns:a16="http://schemas.microsoft.com/office/drawing/2014/main" id="{B00DEEC7-F757-4166-BFBE-3F67A99C3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349" y="2802487"/>
            <a:ext cx="1667190" cy="1667190"/>
          </a:xfrm>
          <a:prstGeom prst="rect">
            <a:avLst/>
          </a:prstGeom>
        </p:spPr>
      </p:pic>
      <p:pic>
        <p:nvPicPr>
          <p:cNvPr id="11" name="Картина 10">
            <a:extLst>
              <a:ext uri="{FF2B5EF4-FFF2-40B4-BE49-F238E27FC236}">
                <a16:creationId xmlns:a16="http://schemas.microsoft.com/office/drawing/2014/main" id="{D8A6889E-7263-4F4E-851B-B16F295D9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766" y="2802487"/>
            <a:ext cx="2003339" cy="1667190"/>
          </a:xfrm>
          <a:prstGeom prst="rect">
            <a:avLst/>
          </a:prstGeom>
        </p:spPr>
      </p:pic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D47AA5A3-CA2D-4ED7-BC27-4D5D77BE7A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2268" y="4657416"/>
            <a:ext cx="2348997" cy="1396065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C8722C0-E563-DD24-819B-B11A9CF63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04236" y="4728308"/>
            <a:ext cx="6182588" cy="146705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7B236F-2634-3427-F835-5088B3D75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236" y="1779566"/>
            <a:ext cx="5639726" cy="28242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6175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4E22-B431-AF23-49E7-D7E621744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err="1"/>
              <a:t>Фавикон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A19E-40BC-3F5B-67B4-E89509B04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М</a:t>
            </a:r>
            <a:r>
              <a:rPr lang="en-US" dirty="0" err="1"/>
              <a:t>алка</a:t>
            </a:r>
            <a:r>
              <a:rPr lang="bg-BG" dirty="0"/>
              <a:t> </a:t>
            </a:r>
            <a:r>
              <a:rPr lang="en-US" dirty="0" err="1"/>
              <a:t>икона</a:t>
            </a:r>
            <a:r>
              <a:rPr lang="en-US" dirty="0"/>
              <a:t>, </a:t>
            </a:r>
            <a:r>
              <a:rPr lang="en-US" dirty="0" err="1"/>
              <a:t>която</a:t>
            </a:r>
            <a:r>
              <a:rPr lang="en-US" dirty="0"/>
              <a:t> </a:t>
            </a:r>
            <a:r>
              <a:rPr lang="en-US" dirty="0" err="1"/>
              <a:t>идентифицира</a:t>
            </a:r>
            <a:r>
              <a:rPr lang="en-US" dirty="0"/>
              <a:t> </a:t>
            </a:r>
            <a:r>
              <a:rPr lang="en-US" dirty="0" err="1"/>
              <a:t>даден</a:t>
            </a:r>
            <a:r>
              <a:rPr lang="en-US" dirty="0"/>
              <a:t> </a:t>
            </a:r>
            <a:r>
              <a:rPr lang="en-US" dirty="0" err="1"/>
              <a:t>уебсайт</a:t>
            </a:r>
            <a:r>
              <a:rPr lang="en-US" dirty="0"/>
              <a:t> в </a:t>
            </a:r>
            <a:r>
              <a:rPr lang="en-US" dirty="0" err="1"/>
              <a:t>браузъра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 err="1"/>
              <a:t>Най-често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bg-BG" dirty="0"/>
              <a:t>визуализира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bg-BG" dirty="0"/>
              <a:t> </a:t>
            </a:r>
            <a:r>
              <a:rPr lang="en-US" dirty="0"/>
              <a:t>в </a:t>
            </a:r>
            <a:r>
              <a:rPr lang="en-US" dirty="0" err="1"/>
              <a:t>таба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браузъра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заглавието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страницата</a:t>
            </a:r>
            <a:r>
              <a:rPr lang="en-US" dirty="0"/>
              <a:t>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bg-BG" dirty="0"/>
              <a:t> </a:t>
            </a:r>
            <a:r>
              <a:rPr lang="en-US" dirty="0"/>
              <a:t>в </a:t>
            </a:r>
            <a:r>
              <a:rPr lang="en-US" dirty="0" err="1"/>
              <a:t>списъка</a:t>
            </a:r>
            <a:r>
              <a:rPr lang="en-US" dirty="0"/>
              <a:t> с </a:t>
            </a:r>
            <a:r>
              <a:rPr lang="en-US" dirty="0" err="1"/>
              <a:t>отметки</a:t>
            </a:r>
            <a:r>
              <a:rPr lang="en-US" dirty="0"/>
              <a:t>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bg-BG" dirty="0"/>
              <a:t> </a:t>
            </a:r>
            <a:r>
              <a:rPr lang="en-US" dirty="0"/>
              <a:t>в </a:t>
            </a:r>
            <a:r>
              <a:rPr lang="en-US" dirty="0" err="1"/>
              <a:t>историята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браузъра</a:t>
            </a:r>
            <a:r>
              <a:rPr lang="en-US" dirty="0"/>
              <a:t>;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преки</a:t>
            </a:r>
            <a:r>
              <a:rPr lang="en-US" dirty="0"/>
              <a:t> </a:t>
            </a:r>
            <a:r>
              <a:rPr lang="en-US" dirty="0" err="1"/>
              <a:t>пътища</a:t>
            </a:r>
            <a:r>
              <a:rPr lang="en-US" dirty="0"/>
              <a:t> </a:t>
            </a:r>
            <a:r>
              <a:rPr lang="en-US" dirty="0" err="1"/>
              <a:t>към</a:t>
            </a:r>
            <a:r>
              <a:rPr lang="en-US" dirty="0"/>
              <a:t> </a:t>
            </a:r>
            <a:r>
              <a:rPr lang="en-US" dirty="0" err="1"/>
              <a:t>сайта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началния</a:t>
            </a:r>
            <a:r>
              <a:rPr lang="en-US" dirty="0"/>
              <a:t> </a:t>
            </a:r>
            <a:r>
              <a:rPr lang="en-US" dirty="0" err="1"/>
              <a:t>екран</a:t>
            </a:r>
            <a:r>
              <a:rPr lang="en-US" dirty="0"/>
              <a:t> </a:t>
            </a:r>
            <a:r>
              <a:rPr lang="bg-BG" dirty="0"/>
              <a:t>на браузъра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26F39-C4A4-7FC0-62A7-37BE392D2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615" y="4715479"/>
            <a:ext cx="3258005" cy="5715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341AE2-D7DE-CADE-19A3-8731C8BCC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4201533"/>
            <a:ext cx="7042700" cy="15994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49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7C09B-3D9B-042E-9D0D-778A760B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Вграждане на външен компонент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AAB51-B44D-BA3A-96DC-3CCCA3349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45734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</a:t>
            </a:r>
            <a:r>
              <a:rPr lang="en-US" dirty="0" err="1"/>
              <a:t>iframe</a:t>
            </a:r>
            <a:r>
              <a:rPr lang="en-US" dirty="0"/>
              <a:t>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&lt;object&gt;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7259C-CDBB-7E1D-4133-07499171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0" y="4329587"/>
            <a:ext cx="8049748" cy="68589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1085C4-A714-78B8-0BFB-41B1B17DC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064" y="1869085"/>
            <a:ext cx="3278659" cy="21941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B9A5E-6B26-72F8-7A00-CD8B0A6B9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556" y="1869085"/>
            <a:ext cx="2998056" cy="2264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AE397F-5FDE-D9B7-28D8-508EC8280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0" y="5099340"/>
            <a:ext cx="9826534" cy="11965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55258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6331</TotalTime>
  <Words>645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Retrospect</vt:lpstr>
      <vt:lpstr>Хипервръзки и изображения</vt:lpstr>
      <vt:lpstr>Хипервръзки</vt:lpstr>
      <vt:lpstr>Хипервръзки - елемент &lt;a&gt;</vt:lpstr>
      <vt:lpstr>Видове хипервръзки</vt:lpstr>
      <vt:lpstr>Видове хипервръзки</vt:lpstr>
      <vt:lpstr>Хипервръзка под формата на изображение</vt:lpstr>
      <vt:lpstr>Някои атрибути</vt:lpstr>
      <vt:lpstr>Задаване на път в хипервръзка</vt:lpstr>
      <vt:lpstr>Навигация</vt:lpstr>
      <vt:lpstr>Формати на изображения, поддържани от браузърите</vt:lpstr>
      <vt:lpstr>Изображение – елемент &lt;img /&gt;</vt:lpstr>
      <vt:lpstr>Някои атрибути</vt:lpstr>
      <vt:lpstr>Елемент &lt;figure&gt;</vt:lpstr>
      <vt:lpstr>Елемент &lt;picture&gt;</vt:lpstr>
      <vt:lpstr>Фавикон</vt:lpstr>
      <vt:lpstr>Вграждане на външен компонент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ас. Доника Георгиева Стоянова</dc:creator>
  <cp:lastModifiedBy>гл. ас. д-р Доника Георгиева Стоянова</cp:lastModifiedBy>
  <cp:revision>79</cp:revision>
  <dcterms:created xsi:type="dcterms:W3CDTF">2021-10-10T20:39:25Z</dcterms:created>
  <dcterms:modified xsi:type="dcterms:W3CDTF">2026-10-04T12:35:54Z</dcterms:modified>
</cp:coreProperties>
</file>